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5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109_0.xml" ContentType="application/vnd.ms-powerpoint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36"/>
  </p:notesMasterIdLst>
  <p:sldIdLst>
    <p:sldId id="256" r:id="rId2"/>
    <p:sldId id="258" r:id="rId3"/>
    <p:sldId id="259" r:id="rId4"/>
    <p:sldId id="257" r:id="rId5"/>
    <p:sldId id="261" r:id="rId6"/>
    <p:sldId id="296" r:id="rId7"/>
    <p:sldId id="297" r:id="rId8"/>
    <p:sldId id="298" r:id="rId9"/>
    <p:sldId id="262" r:id="rId10"/>
    <p:sldId id="299" r:id="rId11"/>
    <p:sldId id="264" r:id="rId12"/>
    <p:sldId id="279" r:id="rId13"/>
    <p:sldId id="263" r:id="rId14"/>
    <p:sldId id="278" r:id="rId15"/>
    <p:sldId id="277" r:id="rId16"/>
    <p:sldId id="280" r:id="rId17"/>
    <p:sldId id="281" r:id="rId18"/>
    <p:sldId id="295" r:id="rId19"/>
    <p:sldId id="282" r:id="rId20"/>
    <p:sldId id="294" r:id="rId21"/>
    <p:sldId id="289" r:id="rId22"/>
    <p:sldId id="290" r:id="rId23"/>
    <p:sldId id="291" r:id="rId24"/>
    <p:sldId id="283" r:id="rId25"/>
    <p:sldId id="267" r:id="rId26"/>
    <p:sldId id="265" r:id="rId27"/>
    <p:sldId id="284" r:id="rId28"/>
    <p:sldId id="293" r:id="rId29"/>
    <p:sldId id="285" r:id="rId30"/>
    <p:sldId id="287" r:id="rId31"/>
    <p:sldId id="292" r:id="rId32"/>
    <p:sldId id="266" r:id="rId33"/>
    <p:sldId id="288" r:id="rId34"/>
    <p:sldId id="274" r:id="rId35"/>
  </p:sldIdLst>
  <p:sldSz cx="18288000" cy="10287000"/>
  <p:notesSz cx="6858000" cy="9144000"/>
  <p:embeddedFontLst>
    <p:embeddedFont>
      <p:font typeface="Apple Braille" pitchFamily="2" charset="0"/>
      <p:regular r:id="rId37"/>
    </p:embeddedFont>
    <p:embeddedFont>
      <p:font typeface="Apple Braille Outline 8 Dot" pitchFamily="2" charset="0"/>
      <p:regular r:id="rId38"/>
    </p:embeddedFont>
    <p:embeddedFont>
      <p:font typeface="Inter" panose="02000503000000020004" pitchFamily="2" charset="0"/>
      <p:regular r:id="rId39"/>
      <p:bold r:id="rId40"/>
      <p:italic r:id="rId41"/>
      <p:boldItalic r:id="rId42"/>
    </p:embeddedFont>
    <p:embeddedFont>
      <p:font typeface="Inter Light" panose="02000503000000020004" pitchFamily="2" charset="0"/>
      <p:regular r:id="rId43"/>
      <p:bold r:id="rId44"/>
      <p:italic r:id="rId45"/>
      <p:boldItalic r:id="rId46"/>
    </p:embeddedFont>
    <p:embeddedFont>
      <p:font typeface="Inter Medium" panose="02000503000000020004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BC6A55-B77F-D31F-E4BC-32699C1F127D}" name="XIN YU XU" initials="XX" userId="S::x.xu@studenti.unisa.it::1b5e0ee6-b8a2-44b3-a221-c1877f057ab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4"/>
  </p:normalViewPr>
  <p:slideViewPr>
    <p:cSldViewPr snapToGrid="0">
      <p:cViewPr varScale="1">
        <p:scale>
          <a:sx n="79" d="100"/>
          <a:sy n="79" d="100"/>
        </p:scale>
        <p:origin x="264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17F311-F97C-9E4C-B065-6C8760798D57}" authorId="{FCBC6A55-B77F-D31F-E4BC-32699C1F127D}" created="2026-04-05T08:37:20.446">
    <pc:sldMkLst xmlns:pc="http://schemas.microsoft.com/office/powerpoint/2013/main/command">
      <pc:docMk/>
      <pc:sldMk cId="0" sldId="261"/>
    </pc:sldMkLst>
    <p188:txBody>
      <a:bodyPr/>
      <a:lstStyle/>
      <a:p>
        <a:r>
          <a:rPr lang="it-IT"/>
          <a:t>David Hume descrive la causalità come problema filosofico 
Neyman lo rende un problema filosifico a un problema statistico. Dando una prima formulazione</a:t>
        </a:r>
      </a:p>
    </p188:txBody>
  </p188:cm>
  <p188:cm id="{2968A8DB-7DB6-CE46-80CD-1793D2BCA40E}" authorId="{FCBC6A55-B77F-D31F-E4BC-32699C1F127D}" created="2026-04-05T17:39:34.777">
    <pc:sldMkLst xmlns:pc="http://schemas.microsoft.com/office/powerpoint/2013/main/command">
      <pc:docMk/>
      <pc:sldMk cId="0" sldId="261"/>
    </pc:sldMkLst>
    <p188:txBody>
      <a:bodyPr/>
      <a:lstStyle/>
      <a:p>
        <a:r>
          <a:rPr lang="it-IT"/>
          <a:t>Contiguità cioè la vicinanza tra causa ed effetto
</a:t>
        </a:r>
      </a:p>
    </p188:txBody>
  </p188:cm>
  <p188:cm id="{C0B0CC2E-CA88-5343-A288-EE025E29A68B}" authorId="{FCBC6A55-B77F-D31F-E4BC-32699C1F127D}" created="2026-04-05T17:40:09.761">
    <pc:sldMkLst xmlns:pc="http://schemas.microsoft.com/office/powerpoint/2013/main/command">
      <pc:docMk/>
      <pc:sldMk cId="0" sldId="261"/>
    </pc:sldMkLst>
    <p188:txBody>
      <a:bodyPr/>
      <a:lstStyle/>
      <a:p>
        <a:r>
          <a:rPr lang="it-IT"/>
          <a:t>RCT = Randomized Controlled Trial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9FEF45-AE68-5D43-9030-A986D55D9838}" authorId="{FCBC6A55-B77F-D31F-E4BC-32699C1F127D}" created="2026-04-07T14:21:05.331">
    <pc:sldMkLst xmlns:pc="http://schemas.microsoft.com/office/powerpoint/2013/main/command">
      <pc:docMk/>
      <pc:sldMk cId="0" sldId="265"/>
    </pc:sldMkLst>
    <p188:replyLst>
      <p188:reply id="{4EA628BA-9593-A748-B4B1-14FDBC875EAF}" authorId="{FCBC6A55-B77F-D31F-E4BC-32699C1F127D}" created="2026-04-07T14:24:41.466">
        <p188:txBody>
          <a:bodyPr/>
          <a:lstStyle/>
          <a:p>
            <a:r>
              <a:rPr lang="it-IT"/>
              <a:t>SGD (Stocastic Gradient Descent)
calcolo errore -&gt; 
calcolo gradiente -&gt; 
aggiornare i pesi nella direzioni opposti
+: Semplice 
buon learning rate, converge sempre
</a:t>
            </a:r>
          </a:p>
        </p188:txBody>
      </p188:reply>
      <p188:reply id="{0363EBA0-EA55-F44C-B4FF-7C36E47047CE}" authorId="{FCBC6A55-B77F-D31F-E4BC-32699C1F127D}" created="2026-04-07T14:26:27.129">
        <p188:txBody>
          <a:bodyPr/>
          <a:lstStyle/>
          <a:p>
            <a:r>
              <a:rPr lang="it-IT"/>
              <a:t>Adam: 
Salva i momenti, primo moemnto media e secondo momento varianza
+:learning rate datattivo
converge più velocemente 
-: più memoria richiesta per salvare i momenti</a:t>
            </a:r>
          </a:p>
        </p188:txBody>
      </p188:reply>
    </p188:replyLst>
    <p188:txBody>
      <a:bodyPr/>
      <a:lstStyle/>
      <a:p>
        <a:r>
          <a:rPr lang="it-IT"/>
          <a:t>SGD -&gt; ottimizzatore Storico
Adam -&gt; evoluzione più moderna, più veloce e stabile.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David Hume descrive la causalità come problema filosofico </a:t>
            </a:r>
          </a:p>
          <a:p>
            <a:b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it-IT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Neyman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 rende un problema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filosifico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un problema statistico. Dando una prima formulazione</a:t>
            </a:r>
          </a:p>
          <a:p>
            <a:endParaRPr lang="it-IT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Contiguità cioè la vicinanza tra causa ed effetto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it-IT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RCT =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Randomized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Controlled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Trial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it-IT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it-IT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" name="Google Shape;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si raccolgono le </a:t>
            </a:r>
            <a:r>
              <a:rPr lang="it-IT" dirty="0" err="1"/>
              <a:t>covariate</a:t>
            </a:r>
            <a:r>
              <a:rPr lang="it-IT" dirty="0"/>
              <a:t>, bisogna stare attenti al leakage post treatment</a:t>
            </a:r>
          </a:p>
        </p:txBody>
      </p:sp>
    </p:spTree>
    <p:extLst>
      <p:ext uri="{BB962C8B-B14F-4D97-AF65-F5344CB8AC3E}">
        <p14:creationId xmlns:p14="http://schemas.microsoft.com/office/powerpoint/2010/main" val="211060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ICU: Sono soggetti che vengono monitorati in maniera costante.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Dataset: un </a:t>
            </a:r>
            <a:r>
              <a:rPr lang="it-IT" dirty="0" err="1"/>
              <a:t>db</a:t>
            </a:r>
            <a:r>
              <a:rPr lang="it-IT" dirty="0"/>
              <a:t> relazionale </a:t>
            </a:r>
            <a:endParaRPr dirty="0"/>
          </a:p>
        </p:txBody>
      </p:sp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F7577737-6DB6-A6F6-044E-952846C4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>
            <a:extLst>
              <a:ext uri="{FF2B5EF4-FFF2-40B4-BE49-F238E27FC236}">
                <a16:creationId xmlns:a16="http://schemas.microsoft.com/office/drawing/2014/main" id="{70D400F6-B787-32E7-AA45-43B62756E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37024A8B-C6EB-D6DE-83E3-E44027E95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5167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0F2DC76-B846-BB7B-8863-29DFDA02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>
            <a:extLst>
              <a:ext uri="{FF2B5EF4-FFF2-40B4-BE49-F238E27FC236}">
                <a16:creationId xmlns:a16="http://schemas.microsoft.com/office/drawing/2014/main" id="{FA802B98-B8B5-8693-13E2-5DF4280E3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>
            <a:extLst>
              <a:ext uri="{FF2B5EF4-FFF2-40B4-BE49-F238E27FC236}">
                <a16:creationId xmlns:a16="http://schemas.microsoft.com/office/drawing/2014/main" id="{4D8D45E6-F0BA-0E0D-3158-2C6401308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0253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A68DDF1D-C474-9A29-25F6-E0DAA8E4E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>
            <a:extLst>
              <a:ext uri="{FF2B5EF4-FFF2-40B4-BE49-F238E27FC236}">
                <a16:creationId xmlns:a16="http://schemas.microsoft.com/office/drawing/2014/main" id="{661A1655-028A-4551-405E-BD70EA680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>
            <a:extLst>
              <a:ext uri="{FF2B5EF4-FFF2-40B4-BE49-F238E27FC236}">
                <a16:creationId xmlns:a16="http://schemas.microsoft.com/office/drawing/2014/main" id="{96AD7091-7934-9809-A851-72B8C697A0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3953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760F68B-E4D1-E971-C17F-7B041D9A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>
            <a:extLst>
              <a:ext uri="{FF2B5EF4-FFF2-40B4-BE49-F238E27FC236}">
                <a16:creationId xmlns:a16="http://schemas.microsoft.com/office/drawing/2014/main" id="{F256D7B8-686C-0D56-9941-487E28687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>
            <a:extLst>
              <a:ext uri="{FF2B5EF4-FFF2-40B4-BE49-F238E27FC236}">
                <a16:creationId xmlns:a16="http://schemas.microsoft.com/office/drawing/2014/main" id="{15F9A88D-39BD-E96A-F7E8-9C966F89C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869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SMD = </a:t>
            </a:r>
            <a:r>
              <a:rPr lang="it-IT" dirty="0" err="1"/>
              <a:t>Standardized</a:t>
            </a:r>
            <a:r>
              <a:rPr lang="it-IT" dirty="0"/>
              <a:t> Mean </a:t>
            </a:r>
            <a:r>
              <a:rPr lang="it-IT" dirty="0" err="1"/>
              <a:t>Difference</a:t>
            </a:r>
            <a:r>
              <a:rPr lang="it-IT" dirty="0"/>
              <a:t> </a:t>
            </a:r>
            <a:br>
              <a:rPr lang="it-IT" dirty="0"/>
            </a:br>
            <a:r>
              <a:rPr lang="it-IT" dirty="0"/>
              <a:t>(Media A - Media B)/</a:t>
            </a:r>
            <a:r>
              <a:rPr lang="it-IT" dirty="0" err="1"/>
              <a:t>deviazione_standard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904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A26DD35-7106-C226-8DEE-FA3085C8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>
            <a:extLst>
              <a:ext uri="{FF2B5EF4-FFF2-40B4-BE49-F238E27FC236}">
                <a16:creationId xmlns:a16="http://schemas.microsoft.com/office/drawing/2014/main" id="{DA95E1B3-CF7B-0FFE-A67D-198D84DDAC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>
            <a:extLst>
              <a:ext uri="{FF2B5EF4-FFF2-40B4-BE49-F238E27FC236}">
                <a16:creationId xmlns:a16="http://schemas.microsoft.com/office/drawing/2014/main" id="{288669EF-64F4-0664-6810-9226D456E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4140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SGD -&gt; ottimizzatore Storico</a:t>
            </a:r>
          </a:p>
          <a:p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Adam -&gt; evoluzione più moderna, più veloce e stabile.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  <a:p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SGD (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Stocastic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Gradient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Descent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calcolo errore -&gt; 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calcolo gradiente -&gt; 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aggiornare i pesi nella direzioni opposti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+: Semplice </a:t>
            </a:r>
          </a:p>
          <a:p>
            <a:pPr lvl="2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buon learning rate, converge sempre</a:t>
            </a:r>
            <a:endParaRPr lang="it-IT" dirty="0"/>
          </a:p>
          <a:p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Adam: 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Salva i momenti, primo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moemnto</a:t>
            </a:r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media e secondo momento varianza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+:learning rate 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datattivo</a:t>
            </a:r>
            <a:endParaRPr lang="it-IT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converge più velocemente </a:t>
            </a:r>
          </a:p>
          <a:p>
            <a:pPr lvl="1"/>
            <a:r>
              <a:rPr lang="it-IT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-: più memoria richiesta per salvare i momenti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it-IT" b="0" i="0" dirty="0">
                <a:solidFill>
                  <a:srgbClr val="000000"/>
                </a:solidFill>
                <a:effectLst/>
              </a:rPr>
              <a:t>"Per superare i limiti dei modelli lineari, implementiamo un </a:t>
            </a:r>
            <a:r>
              <a:rPr lang="it-IT" b="1" i="0" dirty="0">
                <a:solidFill>
                  <a:srgbClr val="000000"/>
                </a:solidFill>
                <a:effectLst/>
              </a:rPr>
              <a:t>DR-</a:t>
            </a:r>
            <a:r>
              <a:rPr lang="it-IT" b="1" i="0" dirty="0" err="1">
                <a:solidFill>
                  <a:srgbClr val="000000"/>
                </a:solidFill>
                <a:effectLst/>
              </a:rPr>
              <a:t>Learner</a:t>
            </a:r>
            <a:r>
              <a:rPr lang="it-IT" b="0" i="0" dirty="0">
                <a:solidFill>
                  <a:srgbClr val="000000"/>
                </a:solidFill>
                <a:effectLst/>
              </a:rPr>
              <a:t> usando </a:t>
            </a:r>
            <a:r>
              <a:rPr lang="it-IT" b="1" i="0" dirty="0" err="1">
                <a:solidFill>
                  <a:srgbClr val="000000"/>
                </a:solidFill>
                <a:effectLst/>
              </a:rPr>
              <a:t>XGBoost</a:t>
            </a:r>
            <a:r>
              <a:rPr lang="it-IT" b="0" i="0" dirty="0">
                <a:solidFill>
                  <a:srgbClr val="000000"/>
                </a:solidFill>
                <a:effectLst/>
              </a:rPr>
              <a:t> come stimatore di base. Questa combinazione ci garantisce la </a:t>
            </a:r>
            <a:r>
              <a:rPr lang="it-IT" b="1" i="0" dirty="0">
                <a:solidFill>
                  <a:srgbClr val="000000"/>
                </a:solidFill>
                <a:effectLst/>
              </a:rPr>
              <a:t>doppia robustezza</a:t>
            </a:r>
            <a:r>
              <a:rPr lang="it-IT" b="0" i="0" dirty="0">
                <a:solidFill>
                  <a:srgbClr val="000000"/>
                </a:solidFill>
                <a:effectLst/>
              </a:rPr>
              <a:t>: la stima dell'effetto causale rimane corretta anche se uno dei due modelli interni (</a:t>
            </a:r>
            <a:r>
              <a:rPr lang="it-IT" b="0" i="0" dirty="0" err="1">
                <a:solidFill>
                  <a:srgbClr val="000000"/>
                </a:solidFill>
                <a:effectLst/>
              </a:rPr>
              <a:t>propensity</a:t>
            </a:r>
            <a:r>
              <a:rPr lang="it-IT" b="0" i="0" dirty="0">
                <a:solidFill>
                  <a:srgbClr val="000000"/>
                </a:solidFill>
                <a:effectLst/>
              </a:rPr>
              <a:t> o </a:t>
            </a:r>
            <a:r>
              <a:rPr lang="it-IT" b="0" i="0" dirty="0" err="1">
                <a:solidFill>
                  <a:srgbClr val="000000"/>
                </a:solidFill>
                <a:effectLst/>
              </a:rPr>
              <a:t>outcome</a:t>
            </a:r>
            <a:r>
              <a:rPr lang="it-IT" b="0" i="0" dirty="0">
                <a:solidFill>
                  <a:srgbClr val="000000"/>
                </a:solidFill>
                <a:effectLst/>
              </a:rPr>
              <a:t>) è leggermente specificato male. </a:t>
            </a:r>
            <a:r>
              <a:rPr lang="it-IT" b="0" i="0" dirty="0" err="1">
                <a:solidFill>
                  <a:srgbClr val="000000"/>
                </a:solidFill>
                <a:effectLst/>
              </a:rPr>
              <a:t>XGBoost</a:t>
            </a:r>
            <a:r>
              <a:rPr lang="it-IT" b="0" i="0" dirty="0">
                <a:solidFill>
                  <a:srgbClr val="000000"/>
                </a:solidFill>
                <a:effectLst/>
              </a:rPr>
              <a:t>, essendo basato su alberi di decisione, gestisce nativamente le interazioni complesse tra i dati clinici, offrendo prestazioni superiori su dataset di dimensioni contenute rispetto alle reti neurali."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554676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On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>
            <a:spLocks noGrp="1"/>
          </p:cNvSpPr>
          <p:nvPr>
            <p:ph type="pic" idx="2"/>
          </p:nvPr>
        </p:nvSpPr>
        <p:spPr>
          <a:xfrm>
            <a:off x="9136050" y="1007975"/>
            <a:ext cx="8131200" cy="827040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Tw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>
            <a:spLocks noGrp="1"/>
          </p:cNvSpPr>
          <p:nvPr>
            <p:ph type="pic" idx="2"/>
          </p:nvPr>
        </p:nvSpPr>
        <p:spPr>
          <a:xfrm>
            <a:off x="1009200" y="1006800"/>
            <a:ext cx="8154300" cy="415860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p4"/>
          <p:cNvSpPr>
            <a:spLocks noGrp="1"/>
          </p:cNvSpPr>
          <p:nvPr>
            <p:ph type="pic" idx="3"/>
          </p:nvPr>
        </p:nvSpPr>
        <p:spPr>
          <a:xfrm>
            <a:off x="1009200" y="5165400"/>
            <a:ext cx="8154300" cy="415860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C2D076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4400"/>
              <a:buFont typeface="Inter"/>
              <a:buNone/>
              <a:defRPr sz="4400" i="0" u="none" strike="noStrike" cap="non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Char char="•"/>
              <a:defRPr sz="32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–"/>
              <a:defRPr sz="28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•"/>
              <a:defRPr sz="24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sz="200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1028700" y="9258300"/>
            <a:ext cx="16230600" cy="0"/>
          </a:xfrm>
          <a:prstGeom prst="straightConnector1">
            <a:avLst/>
          </a:prstGeom>
          <a:noFill/>
          <a:ln w="3810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6"/>
          <p:cNvSpPr txBox="1"/>
          <p:nvPr/>
        </p:nvSpPr>
        <p:spPr>
          <a:xfrm>
            <a:off x="1028700" y="4079250"/>
            <a:ext cx="10740300" cy="1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" name="Google Shape;27;p6"/>
          <p:cNvSpPr txBox="1"/>
          <p:nvPr/>
        </p:nvSpPr>
        <p:spPr>
          <a:xfrm>
            <a:off x="1028700" y="424225"/>
            <a:ext cx="17391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9;p6"/>
          <p:cNvSpPr txBox="1"/>
          <p:nvPr/>
        </p:nvSpPr>
        <p:spPr>
          <a:xfrm>
            <a:off x="15888175" y="424225"/>
            <a:ext cx="1371000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6552E58D-5F5D-4B80-75F3-2E68911A98BB}"/>
              </a:ext>
            </a:extLst>
          </p:cNvPr>
          <p:cNvSpPr txBox="1"/>
          <p:nvPr/>
        </p:nvSpPr>
        <p:spPr>
          <a:xfrm>
            <a:off x="1240600" y="1913250"/>
            <a:ext cx="107403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L’effetto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degli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antibiotici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terapeutici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Uno studio </a:t>
            </a:r>
            <a:r>
              <a:rPr lang="en-US" sz="5600" b="1" dirty="0" err="1">
                <a:solidFill>
                  <a:schemeClr val="accent6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causale</a:t>
            </a:r>
            <a:endParaRPr lang="en-US" sz="5600" b="1" dirty="0">
              <a:solidFill>
                <a:schemeClr val="accent6">
                  <a:lumMod val="7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619057" y="2623820"/>
            <a:ext cx="12632400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09041" marR="0" lvl="1" indent="-6045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AutoNum type="arabicPeriod"/>
            </a:pPr>
            <a:r>
              <a:rPr lang="en-US" sz="5600" i="0" u="none" strike="noStrike" cap="none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Introduzione</a:t>
            </a:r>
            <a:r>
              <a:rPr lang="en-US" sz="5600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 (</a:t>
            </a:r>
            <a:r>
              <a:rPr lang="en-US" sz="5600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inferenza</a:t>
            </a:r>
            <a:r>
              <a:rPr lang="en-US" sz="5600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causale</a:t>
            </a:r>
            <a:r>
              <a:rPr lang="en-US" sz="5600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)</a:t>
            </a:r>
            <a:endParaRPr dirty="0">
              <a:latin typeface="Inter Medium"/>
              <a:ea typeface="Inter Medium"/>
              <a:cs typeface="Inter Medium"/>
              <a:sym typeface="Inter Medium"/>
            </a:endParaRPr>
          </a:p>
          <a:p>
            <a:pPr marL="1209041" marR="0" lvl="1" indent="-6045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AutoNum type="arabicPeriod"/>
            </a:pPr>
            <a:r>
              <a:rPr lang="it-IT" sz="5600" i="0" u="none" strike="noStrike" cap="none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Dati e data </a:t>
            </a:r>
            <a:r>
              <a:rPr lang="it-IT" sz="5600" i="0" u="none" strike="noStrike" cap="none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cleaning</a:t>
            </a:r>
            <a:endParaRPr dirty="0">
              <a:latin typeface="Inter Medium"/>
              <a:ea typeface="Inter Medium"/>
              <a:cs typeface="Inter Medium"/>
              <a:sym typeface="Inter Medium"/>
            </a:endParaRPr>
          </a:p>
          <a:p>
            <a:pPr marL="1209041" marR="0" lvl="1" indent="-6045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AutoNum type="arabicPeriod"/>
            </a:pPr>
            <a:r>
              <a:rPr lang="en-US" sz="5600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Metodi </a:t>
            </a:r>
            <a:r>
              <a:rPr lang="en-US" sz="5600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statistici</a:t>
            </a:r>
            <a:r>
              <a:rPr lang="en-US" sz="5600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 e ML</a:t>
            </a:r>
            <a:endParaRPr dirty="0">
              <a:latin typeface="Inter Medium"/>
              <a:ea typeface="Inter Medium"/>
              <a:cs typeface="Inter Medium"/>
              <a:sym typeface="Inter Medium"/>
            </a:endParaRPr>
          </a:p>
          <a:p>
            <a:pPr marL="1209041" marR="0" lvl="1" indent="-6045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AutoNum type="arabicPeriod"/>
            </a:pPr>
            <a:r>
              <a:rPr lang="en-US" sz="5600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Risultati</a:t>
            </a:r>
            <a:endParaRPr dirty="0">
              <a:latin typeface="Inter Medium"/>
              <a:ea typeface="Inter Medium"/>
              <a:cs typeface="Inter Medium"/>
              <a:sym typeface="Inter Medium"/>
            </a:endParaRPr>
          </a:p>
          <a:p>
            <a:pPr marL="1209041" marR="0" lvl="1" indent="-6045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AutoNum type="arabicPeriod"/>
            </a:pPr>
            <a:r>
              <a:rPr lang="en-US" sz="5600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</a:t>
            </a:r>
            <a:r>
              <a:rPr lang="en-US" sz="5600" dirty="0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 e </a:t>
            </a:r>
            <a:r>
              <a:rPr lang="en-US" sz="5600" dirty="0" err="1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limiti</a:t>
            </a:r>
            <a:endParaRPr dirty="0"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/>
        </p:nvSpPr>
        <p:spPr>
          <a:xfrm>
            <a:off x="1028699" y="4636453"/>
            <a:ext cx="7523629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Introduzione</a:t>
            </a:r>
            <a:r>
              <a:rPr lang="en-US" sz="8799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9"/>
          <p:cNvSpPr txBox="1"/>
          <p:nvPr/>
        </p:nvSpPr>
        <p:spPr>
          <a:xfrm>
            <a:off x="1028700" y="424225"/>
            <a:ext cx="17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52" name="Google Shape;52;p9"/>
          <p:cNvSpPr txBox="1"/>
          <p:nvPr/>
        </p:nvSpPr>
        <p:spPr>
          <a:xfrm>
            <a:off x="8131775" y="424225"/>
            <a:ext cx="202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15953575" y="424225"/>
            <a:ext cx="130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sp>
        <p:nvSpPr>
          <p:cNvPr id="2" name="Google Shape;50;p9">
            <a:extLst>
              <a:ext uri="{FF2B5EF4-FFF2-40B4-BE49-F238E27FC236}">
                <a16:creationId xmlns:a16="http://schemas.microsoft.com/office/drawing/2014/main" id="{E796A198-C2F7-A007-3461-C4204E46D19C}"/>
              </a:ext>
            </a:extLst>
          </p:cNvPr>
          <p:cNvSpPr txBox="1"/>
          <p:nvPr/>
        </p:nvSpPr>
        <p:spPr>
          <a:xfrm>
            <a:off x="1315569" y="5990542"/>
            <a:ext cx="10159254" cy="8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Cos’è</a:t>
            </a:r>
            <a:r>
              <a:rPr lang="en-US" sz="550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550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causalità</a:t>
            </a:r>
            <a:endParaRPr sz="5500" dirty="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>
            <a:off x="1028625" y="3846877"/>
            <a:ext cx="162306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“Correlation is not equal Causation”</a:t>
            </a:r>
            <a:endParaRPr sz="6600" dirty="0"/>
          </a:p>
        </p:txBody>
      </p:sp>
      <p:sp>
        <p:nvSpPr>
          <p:cNvPr id="3" name="Google Shape;34;p7">
            <a:extLst>
              <a:ext uri="{FF2B5EF4-FFF2-40B4-BE49-F238E27FC236}">
                <a16:creationId xmlns:a16="http://schemas.microsoft.com/office/drawing/2014/main" id="{90E6DE2D-9527-8320-7D1B-5827403B6338}"/>
              </a:ext>
            </a:extLst>
          </p:cNvPr>
          <p:cNvSpPr txBox="1"/>
          <p:nvPr/>
        </p:nvSpPr>
        <p:spPr>
          <a:xfrm>
            <a:off x="1028625" y="5478453"/>
            <a:ext cx="162306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Ma </a:t>
            </a:r>
            <a:r>
              <a:rPr lang="en-US" sz="6600" b="0" i="0" u="none" strike="noStrike" cap="none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che</a:t>
            </a:r>
            <a:r>
              <a:rPr lang="en-US" sz="66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600" b="0" i="0" u="none" strike="noStrike" cap="none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cos’è</a:t>
            </a:r>
            <a:r>
              <a:rPr lang="en-US" sz="66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6600" b="0" i="0" u="none" strike="noStrike" cap="none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causalità</a:t>
            </a:r>
            <a:r>
              <a:rPr lang="en-US" sz="66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sz="6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/>
        </p:nvSpPr>
        <p:spPr>
          <a:xfrm>
            <a:off x="1028700" y="3419555"/>
            <a:ext cx="680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Inferenza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Causale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10393456" y="1752679"/>
            <a:ext cx="686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David Hume - </a:t>
            </a:r>
            <a:r>
              <a:rPr lang="en-US" sz="2799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1740</a:t>
            </a:r>
            <a:endParaRPr dirty="0"/>
          </a:p>
        </p:txBody>
      </p:sp>
      <p:sp>
        <p:nvSpPr>
          <p:cNvPr id="70" name="Google Shape;70;p11"/>
          <p:cNvSpPr txBox="1"/>
          <p:nvPr/>
        </p:nvSpPr>
        <p:spPr>
          <a:xfrm>
            <a:off x="10426114" y="2107009"/>
            <a:ext cx="68658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Filosofo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Scozzese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.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Contributi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Contiguità</a:t>
            </a:r>
            <a:endParaRPr lang="en-US" sz="18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Successione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Temporale</a:t>
            </a:r>
            <a:endParaRPr lang="en-US" sz="18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Congiunzione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Costante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endParaRPr dirty="0"/>
          </a:p>
        </p:txBody>
      </p:sp>
      <p:sp>
        <p:nvSpPr>
          <p:cNvPr id="71" name="Google Shape;71;p11"/>
          <p:cNvSpPr txBox="1"/>
          <p:nvPr/>
        </p:nvSpPr>
        <p:spPr>
          <a:xfrm>
            <a:off x="10393456" y="3611239"/>
            <a:ext cx="686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Jerzy Neyman -1923</a:t>
            </a:r>
            <a:endParaRPr lang="en-US" dirty="0"/>
          </a:p>
        </p:txBody>
      </p:sp>
      <p:sp>
        <p:nvSpPr>
          <p:cNvPr id="72" name="Google Shape;72;p11"/>
          <p:cNvSpPr txBox="1"/>
          <p:nvPr/>
        </p:nvSpPr>
        <p:spPr>
          <a:xfrm>
            <a:off x="10393456" y="3965569"/>
            <a:ext cx="6865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Matematico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e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statistico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polacco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Potential Outcome Framework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Effetto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medio del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trattamento</a:t>
            </a:r>
            <a:endParaRPr lang="en-US" sz="18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10393456" y="7179194"/>
            <a:ext cx="686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Donald Rubin – 1970s</a:t>
            </a:r>
            <a:endParaRPr lang="en-US" dirty="0"/>
          </a:p>
        </p:txBody>
      </p:sp>
      <p:sp>
        <p:nvSpPr>
          <p:cNvPr id="74" name="Google Shape;74;p11"/>
          <p:cNvSpPr txBox="1"/>
          <p:nvPr/>
        </p:nvSpPr>
        <p:spPr>
          <a:xfrm>
            <a:off x="10393456" y="7533524"/>
            <a:ext cx="68658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Framework Moderno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Assunzioni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SUTVA,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Ignorabilità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e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Positività</a:t>
            </a:r>
            <a:endParaRPr lang="en-US" sz="18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</p:txBody>
      </p:sp>
      <p:cxnSp>
        <p:nvCxnSpPr>
          <p:cNvPr id="78" name="Google Shape;78;p11"/>
          <p:cNvCxnSpPr/>
          <p:nvPr/>
        </p:nvCxnSpPr>
        <p:spPr>
          <a:xfrm rot="10800000">
            <a:off x="9144000" y="1028700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71;p11">
            <a:extLst>
              <a:ext uri="{FF2B5EF4-FFF2-40B4-BE49-F238E27FC236}">
                <a16:creationId xmlns:a16="http://schemas.microsoft.com/office/drawing/2014/main" id="{5486E46A-7C57-0EEA-5826-E396AE655459}"/>
              </a:ext>
            </a:extLst>
          </p:cNvPr>
          <p:cNvSpPr txBox="1"/>
          <p:nvPr/>
        </p:nvSpPr>
        <p:spPr>
          <a:xfrm>
            <a:off x="10393456" y="5481541"/>
            <a:ext cx="6865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R.A. Fisher – 1935</a:t>
            </a:r>
            <a:endParaRPr lang="en-US" dirty="0"/>
          </a:p>
        </p:txBody>
      </p:sp>
      <p:sp>
        <p:nvSpPr>
          <p:cNvPr id="3" name="Google Shape;72;p11">
            <a:extLst>
              <a:ext uri="{FF2B5EF4-FFF2-40B4-BE49-F238E27FC236}">
                <a16:creationId xmlns:a16="http://schemas.microsoft.com/office/drawing/2014/main" id="{2F777397-3F31-B716-CFFA-24E9C05B8174}"/>
              </a:ext>
            </a:extLst>
          </p:cNvPr>
          <p:cNvSpPr txBox="1"/>
          <p:nvPr/>
        </p:nvSpPr>
        <p:spPr>
          <a:xfrm>
            <a:off x="10393456" y="5835871"/>
            <a:ext cx="6865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Statistico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e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biologo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inglese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-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Formalizza</a:t>
            </a:r>
            <a:r>
              <a:rPr lang="en-US" sz="18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l’RCT</a:t>
            </a:r>
            <a:endParaRPr lang="en-US" sz="1800" b="0" i="0" u="none" strike="noStrike" cap="none" dirty="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2F5B5B91-EC40-B5DA-EA52-ED051B3178CC}"/>
              </a:ext>
            </a:extLst>
          </p:cNvPr>
          <p:cNvSpPr txBox="1"/>
          <p:nvPr/>
        </p:nvSpPr>
        <p:spPr>
          <a:xfrm>
            <a:off x="1385537" y="2570356"/>
            <a:ext cx="584045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Trattamento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&lt;T&gt;</a:t>
            </a:r>
          </a:p>
        </p:txBody>
      </p:sp>
      <p:cxnSp>
        <p:nvCxnSpPr>
          <p:cNvPr id="5" name="Google Shape;78;p11">
            <a:extLst>
              <a:ext uri="{FF2B5EF4-FFF2-40B4-BE49-F238E27FC236}">
                <a16:creationId xmlns:a16="http://schemas.microsoft.com/office/drawing/2014/main" id="{CC861530-2EA4-BEBD-07A1-4B8F447325CA}"/>
              </a:ext>
            </a:extLst>
          </p:cNvPr>
          <p:cNvCxnSpPr/>
          <p:nvPr/>
        </p:nvCxnSpPr>
        <p:spPr>
          <a:xfrm rot="10800000">
            <a:off x="9144000" y="1028700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68;p11">
            <a:extLst>
              <a:ext uri="{FF2B5EF4-FFF2-40B4-BE49-F238E27FC236}">
                <a16:creationId xmlns:a16="http://schemas.microsoft.com/office/drawing/2014/main" id="{FC7C64C1-8BC8-72E9-394F-7FB00B5F2A42}"/>
              </a:ext>
            </a:extLst>
          </p:cNvPr>
          <p:cNvSpPr txBox="1"/>
          <p:nvPr/>
        </p:nvSpPr>
        <p:spPr>
          <a:xfrm>
            <a:off x="10503519" y="1301220"/>
            <a:ext cx="5840452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-Il il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trattamento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l’esposizione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che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vuole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studiare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9" name="Google Shape;68;p11">
            <a:extLst>
              <a:ext uri="{FF2B5EF4-FFF2-40B4-BE49-F238E27FC236}">
                <a16:creationId xmlns:a16="http://schemas.microsoft.com/office/drawing/2014/main" id="{281A68E9-A6E0-63F8-0A9D-C3CDAE490864}"/>
              </a:ext>
            </a:extLst>
          </p:cNvPr>
          <p:cNvSpPr txBox="1"/>
          <p:nvPr/>
        </p:nvSpPr>
        <p:spPr>
          <a:xfrm>
            <a:off x="10503519" y="5143500"/>
            <a:ext cx="584045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Deve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soddisfare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-SUTVA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-Exchangeability</a:t>
            </a:r>
          </a:p>
        </p:txBody>
      </p:sp>
      <p:sp>
        <p:nvSpPr>
          <p:cNvPr id="10" name="Google Shape;68;p11">
            <a:extLst>
              <a:ext uri="{FF2B5EF4-FFF2-40B4-BE49-F238E27FC236}">
                <a16:creationId xmlns:a16="http://schemas.microsoft.com/office/drawing/2014/main" id="{31467EFE-E794-C3DB-87E9-A34EE0F4D4B4}"/>
              </a:ext>
            </a:extLst>
          </p:cNvPr>
          <p:cNvSpPr txBox="1"/>
          <p:nvPr/>
        </p:nvSpPr>
        <p:spPr>
          <a:xfrm>
            <a:off x="1063082" y="5969570"/>
            <a:ext cx="301825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Gruppo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Trattato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(T=1)</a:t>
            </a:r>
          </a:p>
        </p:txBody>
      </p:sp>
      <p:sp>
        <p:nvSpPr>
          <p:cNvPr id="11" name="Google Shape;68;p11">
            <a:extLst>
              <a:ext uri="{FF2B5EF4-FFF2-40B4-BE49-F238E27FC236}">
                <a16:creationId xmlns:a16="http://schemas.microsoft.com/office/drawing/2014/main" id="{B7532042-7BAF-1F79-19A0-68BEAD1F9A30}"/>
              </a:ext>
            </a:extLst>
          </p:cNvPr>
          <p:cNvSpPr txBox="1"/>
          <p:nvPr/>
        </p:nvSpPr>
        <p:spPr>
          <a:xfrm>
            <a:off x="5103540" y="5969570"/>
            <a:ext cx="352750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Gruppo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Controllo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(T=0)</a:t>
            </a:r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109C0F7A-C6E0-A088-1320-C26C0BD09998}"/>
              </a:ext>
            </a:extLst>
          </p:cNvPr>
          <p:cNvCxnSpPr>
            <a:stCxn id="10" idx="0"/>
            <a:endCxn id="3" idx="2"/>
          </p:cNvCxnSpPr>
          <p:nvPr/>
        </p:nvCxnSpPr>
        <p:spPr>
          <a:xfrm flipV="1">
            <a:off x="2572211" y="3432130"/>
            <a:ext cx="1733552" cy="25374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nettore dritto 13">
            <a:extLst>
              <a:ext uri="{FF2B5EF4-FFF2-40B4-BE49-F238E27FC236}">
                <a16:creationId xmlns:a16="http://schemas.microsoft.com/office/drawing/2014/main" id="{574C657E-A0B3-A968-0E37-B16D2948A1DE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041744" y="3455656"/>
            <a:ext cx="1825548" cy="251391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99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F589BC45-3AD7-0EAE-8840-C5B4654C7956}"/>
              </a:ext>
            </a:extLst>
          </p:cNvPr>
          <p:cNvSpPr txBox="1"/>
          <p:nvPr/>
        </p:nvSpPr>
        <p:spPr>
          <a:xfrm>
            <a:off x="5431340" y="2237044"/>
            <a:ext cx="7960578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Potential Outcome &lt;Y&gt;</a:t>
            </a:r>
          </a:p>
        </p:txBody>
      </p:sp>
      <p:sp>
        <p:nvSpPr>
          <p:cNvPr id="11" name="Google Shape;68;p11">
            <a:extLst>
              <a:ext uri="{FF2B5EF4-FFF2-40B4-BE49-F238E27FC236}">
                <a16:creationId xmlns:a16="http://schemas.microsoft.com/office/drawing/2014/main" id="{FA4697EF-229B-705F-1C81-1C41B1C30AB8}"/>
              </a:ext>
            </a:extLst>
          </p:cNvPr>
          <p:cNvSpPr txBox="1"/>
          <p:nvPr/>
        </p:nvSpPr>
        <p:spPr>
          <a:xfrm>
            <a:off x="3305522" y="5924085"/>
            <a:ext cx="42516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Outcome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Osservato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68;p11">
            <a:extLst>
              <a:ext uri="{FF2B5EF4-FFF2-40B4-BE49-F238E27FC236}">
                <a16:creationId xmlns:a16="http://schemas.microsoft.com/office/drawing/2014/main" id="{066810B2-6D15-B807-62B0-14D443489028}"/>
              </a:ext>
            </a:extLst>
          </p:cNvPr>
          <p:cNvSpPr txBox="1"/>
          <p:nvPr/>
        </p:nvSpPr>
        <p:spPr>
          <a:xfrm>
            <a:off x="11266102" y="5893418"/>
            <a:ext cx="483963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Outcome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Controfattuale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" name="Connettore dritto 13">
            <a:extLst>
              <a:ext uri="{FF2B5EF4-FFF2-40B4-BE49-F238E27FC236}">
                <a16:creationId xmlns:a16="http://schemas.microsoft.com/office/drawing/2014/main" id="{1D17C60D-FA14-9A5B-713E-F83CD38041D1}"/>
              </a:ext>
            </a:extLst>
          </p:cNvPr>
          <p:cNvCxnSpPr>
            <a:stCxn id="11" idx="0"/>
            <a:endCxn id="3" idx="2"/>
          </p:cNvCxnSpPr>
          <p:nvPr/>
        </p:nvCxnSpPr>
        <p:spPr>
          <a:xfrm flipV="1">
            <a:off x="5431340" y="3098818"/>
            <a:ext cx="3980289" cy="282526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Connettore dritto 14">
            <a:extLst>
              <a:ext uri="{FF2B5EF4-FFF2-40B4-BE49-F238E27FC236}">
                <a16:creationId xmlns:a16="http://schemas.microsoft.com/office/drawing/2014/main" id="{715C99F5-B452-59DE-C7E1-1488BF845100}"/>
              </a:ext>
            </a:extLst>
          </p:cNvPr>
          <p:cNvCxnSpPr>
            <a:cxnSpLocks/>
            <a:stCxn id="12" idx="0"/>
            <a:endCxn id="3" idx="2"/>
          </p:cNvCxnSpPr>
          <p:nvPr/>
        </p:nvCxnSpPr>
        <p:spPr>
          <a:xfrm flipH="1" flipV="1">
            <a:off x="9411629" y="3098818"/>
            <a:ext cx="4274288" cy="27946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6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A10E5FA7-F937-6BCE-A699-1374A4066DA4}"/>
              </a:ext>
            </a:extLst>
          </p:cNvPr>
          <p:cNvSpPr txBox="1"/>
          <p:nvPr/>
        </p:nvSpPr>
        <p:spPr>
          <a:xfrm>
            <a:off x="6553558" y="1488899"/>
            <a:ext cx="559489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Covariate &lt;X&gt;</a:t>
            </a:r>
          </a:p>
        </p:txBody>
      </p:sp>
      <p:sp>
        <p:nvSpPr>
          <p:cNvPr id="4" name="Google Shape;68;p11">
            <a:extLst>
              <a:ext uri="{FF2B5EF4-FFF2-40B4-BE49-F238E27FC236}">
                <a16:creationId xmlns:a16="http://schemas.microsoft.com/office/drawing/2014/main" id="{668877D0-5C46-8130-1F1C-614AFCEEC833}"/>
              </a:ext>
            </a:extLst>
          </p:cNvPr>
          <p:cNvSpPr txBox="1"/>
          <p:nvPr/>
        </p:nvSpPr>
        <p:spPr>
          <a:xfrm>
            <a:off x="2508030" y="3449317"/>
            <a:ext cx="1415898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Variabili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misurate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u="sng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PRIMA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trattamento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5" name="Google Shape;68;p11">
            <a:extLst>
              <a:ext uri="{FF2B5EF4-FFF2-40B4-BE49-F238E27FC236}">
                <a16:creationId xmlns:a16="http://schemas.microsoft.com/office/drawing/2014/main" id="{2E93ADB7-1AF8-1F33-C0AF-531523677740}"/>
              </a:ext>
            </a:extLst>
          </p:cNvPr>
          <p:cNvSpPr txBox="1"/>
          <p:nvPr/>
        </p:nvSpPr>
        <p:spPr>
          <a:xfrm>
            <a:off x="9497648" y="5975910"/>
            <a:ext cx="716936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Predittori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Variabili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che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influenzano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solo Y</a:t>
            </a:r>
          </a:p>
        </p:txBody>
      </p:sp>
      <p:sp>
        <p:nvSpPr>
          <p:cNvPr id="7" name="Google Shape;68;p11">
            <a:extLst>
              <a:ext uri="{FF2B5EF4-FFF2-40B4-BE49-F238E27FC236}">
                <a16:creationId xmlns:a16="http://schemas.microsoft.com/office/drawing/2014/main" id="{00445B24-CA35-41D4-181E-470B3D554258}"/>
              </a:ext>
            </a:extLst>
          </p:cNvPr>
          <p:cNvSpPr txBox="1"/>
          <p:nvPr/>
        </p:nvSpPr>
        <p:spPr>
          <a:xfrm>
            <a:off x="1046375" y="5894644"/>
            <a:ext cx="716936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Confondenti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Variabile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influenzano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sia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il T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che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Y</a:t>
            </a:r>
          </a:p>
        </p:txBody>
      </p:sp>
    </p:spTree>
    <p:extLst>
      <p:ext uri="{BB962C8B-B14F-4D97-AF65-F5344CB8AC3E}">
        <p14:creationId xmlns:p14="http://schemas.microsoft.com/office/powerpoint/2010/main" val="352919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/>
        </p:nvSpPr>
        <p:spPr>
          <a:xfrm>
            <a:off x="1028699" y="4636453"/>
            <a:ext cx="6609229" cy="270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Dataset </a:t>
            </a:r>
            <a:r>
              <a:rPr lang="en-US" sz="8799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eICU</a:t>
            </a:r>
            <a:r>
              <a:rPr lang="en-US" sz="8799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- CRD</a:t>
            </a:r>
            <a:endParaRPr dirty="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" name="Google Shape;78;p11">
            <a:extLst>
              <a:ext uri="{FF2B5EF4-FFF2-40B4-BE49-F238E27FC236}">
                <a16:creationId xmlns:a16="http://schemas.microsoft.com/office/drawing/2014/main" id="{3B2519CF-9E10-C3DB-46CA-F1675B2C0A59}"/>
              </a:ext>
            </a:extLst>
          </p:cNvPr>
          <p:cNvCxnSpPr/>
          <p:nvPr/>
        </p:nvCxnSpPr>
        <p:spPr>
          <a:xfrm rot="10800000">
            <a:off x="7704835" y="850281"/>
            <a:ext cx="0" cy="822960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86;p12">
            <a:extLst>
              <a:ext uri="{FF2B5EF4-FFF2-40B4-BE49-F238E27FC236}">
                <a16:creationId xmlns:a16="http://schemas.microsoft.com/office/drawing/2014/main" id="{205B9549-7BC6-3486-0FAF-CBD6E75C04CC}"/>
              </a:ext>
            </a:extLst>
          </p:cNvPr>
          <p:cNvSpPr txBox="1"/>
          <p:nvPr/>
        </p:nvSpPr>
        <p:spPr>
          <a:xfrm>
            <a:off x="8197150" y="1243501"/>
            <a:ext cx="660922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-ICU: Intensive Care Unit (</a:t>
            </a:r>
            <a:r>
              <a:rPr lang="en-US" sz="4000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Terapia</a:t>
            </a:r>
            <a:r>
              <a:rPr lang="en-US" sz="40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000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Intensiva</a:t>
            </a:r>
            <a:r>
              <a:rPr lang="en-US" sz="40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4000"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Google Shape;86;p12">
            <a:extLst>
              <a:ext uri="{FF2B5EF4-FFF2-40B4-BE49-F238E27FC236}">
                <a16:creationId xmlns:a16="http://schemas.microsoft.com/office/drawing/2014/main" id="{0ABA79B7-7B25-E4A1-97BB-FE4901CEC6DF}"/>
              </a:ext>
            </a:extLst>
          </p:cNvPr>
          <p:cNvSpPr txBox="1"/>
          <p:nvPr/>
        </p:nvSpPr>
        <p:spPr>
          <a:xfrm>
            <a:off x="8197150" y="3128787"/>
            <a:ext cx="660922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-Schema </a:t>
            </a:r>
            <a:r>
              <a:rPr lang="en-US" sz="4000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altamente</a:t>
            </a:r>
            <a:r>
              <a:rPr lang="en-US" sz="40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000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denormalizzato</a:t>
            </a:r>
            <a:endParaRPr sz="4000" dirty="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E5D2736-C380-BCAE-7050-9F438C8C0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18" y="5668254"/>
            <a:ext cx="7597019" cy="446012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7077BD72-0486-932C-02B8-1A33A9848BCD}"/>
              </a:ext>
            </a:extLst>
          </p:cNvPr>
          <p:cNvSpPr txBox="1"/>
          <p:nvPr/>
        </p:nvSpPr>
        <p:spPr>
          <a:xfrm>
            <a:off x="887544" y="476528"/>
            <a:ext cx="559489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Classi di Dati</a:t>
            </a:r>
          </a:p>
        </p:txBody>
      </p:sp>
      <p:sp>
        <p:nvSpPr>
          <p:cNvPr id="4" name="Google Shape;68;p11">
            <a:extLst>
              <a:ext uri="{FF2B5EF4-FFF2-40B4-BE49-F238E27FC236}">
                <a16:creationId xmlns:a16="http://schemas.microsoft.com/office/drawing/2014/main" id="{9CD773C8-57B1-6107-4208-42A62E5B08B9}"/>
              </a:ext>
            </a:extLst>
          </p:cNvPr>
          <p:cNvSpPr txBox="1"/>
          <p:nvPr/>
        </p:nvSpPr>
        <p:spPr>
          <a:xfrm>
            <a:off x="4414513" y="2699956"/>
            <a:ext cx="859935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Dati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Amministrativi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946A62F-23CB-6F1B-0708-D0C6A21DE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2227031"/>
            <a:ext cx="1625600" cy="1625600"/>
          </a:xfrm>
          <a:prstGeom prst="rect">
            <a:avLst/>
          </a:prstGeom>
        </p:spPr>
      </p:pic>
      <p:sp>
        <p:nvSpPr>
          <p:cNvPr id="7" name="Google Shape;68;p11">
            <a:extLst>
              <a:ext uri="{FF2B5EF4-FFF2-40B4-BE49-F238E27FC236}">
                <a16:creationId xmlns:a16="http://schemas.microsoft.com/office/drawing/2014/main" id="{129CCDD0-602A-C149-C3D9-469F1BA40FB4}"/>
              </a:ext>
            </a:extLst>
          </p:cNvPr>
          <p:cNvSpPr txBox="1"/>
          <p:nvPr/>
        </p:nvSpPr>
        <p:spPr>
          <a:xfrm>
            <a:off x="4414513" y="4941212"/>
            <a:ext cx="859935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Dati APACHE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8C79AD1-3223-3F82-185F-E7E465EC9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600" y="4559299"/>
            <a:ext cx="1625601" cy="1625601"/>
          </a:xfrm>
          <a:prstGeom prst="rect">
            <a:avLst/>
          </a:prstGeom>
        </p:spPr>
      </p:pic>
      <p:sp>
        <p:nvSpPr>
          <p:cNvPr id="9" name="Google Shape;68;p11">
            <a:extLst>
              <a:ext uri="{FF2B5EF4-FFF2-40B4-BE49-F238E27FC236}">
                <a16:creationId xmlns:a16="http://schemas.microsoft.com/office/drawing/2014/main" id="{CCC372E4-3FBC-50A6-3169-448C2C530D1F}"/>
              </a:ext>
            </a:extLst>
          </p:cNvPr>
          <p:cNvSpPr txBox="1"/>
          <p:nvPr/>
        </p:nvSpPr>
        <p:spPr>
          <a:xfrm>
            <a:off x="4300213" y="7273482"/>
            <a:ext cx="1219164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Care plan e Care documentation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539870E-939C-3682-484E-9389F3ACD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0" y="6891568"/>
            <a:ext cx="1625602" cy="162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35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9144000" y="-108496"/>
            <a:ext cx="9144000" cy="10395496"/>
            <a:chOff x="0" y="-28575"/>
            <a:chExt cx="2408296" cy="2737908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 extrusionOk="0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2D076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 txBox="1"/>
          <p:nvPr/>
        </p:nvSpPr>
        <p:spPr>
          <a:xfrm>
            <a:off x="1028700" y="2272727"/>
            <a:ext cx="70866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eICU</a:t>
            </a:r>
            <a:r>
              <a:rPr lang="en-US" sz="56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-CRD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0172700" y="2272727"/>
            <a:ext cx="70866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eICU</a:t>
            </a:r>
            <a:r>
              <a:rPr lang="en-US" sz="56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-CRD (DEMO)</a:t>
            </a:r>
            <a:endParaRPr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BCFF16-EE01-D69C-81F1-522FB1A000D6}"/>
              </a:ext>
            </a:extLst>
          </p:cNvPr>
          <p:cNvSpPr txBox="1"/>
          <p:nvPr/>
        </p:nvSpPr>
        <p:spPr>
          <a:xfrm>
            <a:off x="2544932" y="4747721"/>
            <a:ext cx="4782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Età</a:t>
            </a: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mediana</a:t>
            </a: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: 66 anni</a:t>
            </a:r>
            <a:endParaRPr lang="en-US" sz="3600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A4C849B-9B4A-5079-075C-B2BDB7EF8293}"/>
              </a:ext>
            </a:extLst>
          </p:cNvPr>
          <p:cNvSpPr txBox="1"/>
          <p:nvPr/>
        </p:nvSpPr>
        <p:spPr>
          <a:xfrm>
            <a:off x="11488756" y="3552573"/>
            <a:ext cx="44567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2k -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Pazienti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362DFF6-15C7-BD40-9C84-492CE7370A26}"/>
              </a:ext>
            </a:extLst>
          </p:cNvPr>
          <p:cNvSpPr txBox="1"/>
          <p:nvPr/>
        </p:nvSpPr>
        <p:spPr>
          <a:xfrm>
            <a:off x="2544932" y="3531908"/>
            <a:ext cx="3685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200k - </a:t>
            </a: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Pazienti</a:t>
            </a:r>
            <a:endParaRPr lang="en-US" sz="36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8FA2897-DA7C-83C6-657E-2B9F6720C7BA}"/>
              </a:ext>
            </a:extLst>
          </p:cNvPr>
          <p:cNvSpPr txBox="1"/>
          <p:nvPr/>
        </p:nvSpPr>
        <p:spPr>
          <a:xfrm>
            <a:off x="11488756" y="4626129"/>
            <a:ext cx="4782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Età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mediana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: 65 anni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8D0D12E-904C-C7CD-663E-A953B99850E1}"/>
              </a:ext>
            </a:extLst>
          </p:cNvPr>
          <p:cNvSpPr txBox="1"/>
          <p:nvPr/>
        </p:nvSpPr>
        <p:spPr>
          <a:xfrm>
            <a:off x="11878235" y="464151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8ED700C-BC5E-790E-4418-8DBCDA2C4DC5}"/>
              </a:ext>
            </a:extLst>
          </p:cNvPr>
          <p:cNvSpPr txBox="1"/>
          <p:nvPr/>
        </p:nvSpPr>
        <p:spPr>
          <a:xfrm>
            <a:off x="2544932" y="7414108"/>
            <a:ext cx="478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Genere</a:t>
            </a: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Maschile</a:t>
            </a: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: 59.8%</a:t>
            </a:r>
            <a:endParaRPr lang="en-US" sz="36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339D566-0AB9-7909-097B-EAD5E11403F9}"/>
              </a:ext>
            </a:extLst>
          </p:cNvPr>
          <p:cNvSpPr txBox="1"/>
          <p:nvPr/>
        </p:nvSpPr>
        <p:spPr>
          <a:xfrm>
            <a:off x="2934411" y="573046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259930E-E2DA-140E-AE8B-72FD44105E7C}"/>
              </a:ext>
            </a:extLst>
          </p:cNvPr>
          <p:cNvSpPr txBox="1"/>
          <p:nvPr/>
        </p:nvSpPr>
        <p:spPr>
          <a:xfrm>
            <a:off x="11488756" y="5715074"/>
            <a:ext cx="478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Mortalità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Ospedaliera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: 9%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AD9BCAA-82FA-AEEC-6679-D6A3659981F2}"/>
              </a:ext>
            </a:extLst>
          </p:cNvPr>
          <p:cNvSpPr txBox="1"/>
          <p:nvPr/>
        </p:nvSpPr>
        <p:spPr>
          <a:xfrm>
            <a:off x="11878235" y="573046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CD817A2-4246-DDF7-9F04-9FA8D9935A45}"/>
              </a:ext>
            </a:extLst>
          </p:cNvPr>
          <p:cNvSpPr txBox="1"/>
          <p:nvPr/>
        </p:nvSpPr>
        <p:spPr>
          <a:xfrm>
            <a:off x="2544932" y="5803915"/>
            <a:ext cx="478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Mortalità</a:t>
            </a: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Ospedaliera</a:t>
            </a:r>
            <a:r>
              <a:rPr lang="en-US" sz="36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: 8.96%</a:t>
            </a:r>
            <a:endParaRPr lang="en-US" sz="36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B415C01-1DC6-C6F8-B413-BD638E430280}"/>
              </a:ext>
            </a:extLst>
          </p:cNvPr>
          <p:cNvSpPr txBox="1"/>
          <p:nvPr/>
        </p:nvSpPr>
        <p:spPr>
          <a:xfrm>
            <a:off x="3086811" y="588286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E6E10B7-6AB3-5F3B-4F80-5D6999C20DE2}"/>
              </a:ext>
            </a:extLst>
          </p:cNvPr>
          <p:cNvSpPr txBox="1"/>
          <p:nvPr/>
        </p:nvSpPr>
        <p:spPr>
          <a:xfrm>
            <a:off x="11488756" y="7358017"/>
            <a:ext cx="4782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Genere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Maschile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: 54%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CEB24D4-F3E7-A244-8B1A-A1223EE46011}"/>
              </a:ext>
            </a:extLst>
          </p:cNvPr>
          <p:cNvSpPr txBox="1"/>
          <p:nvPr/>
        </p:nvSpPr>
        <p:spPr>
          <a:xfrm>
            <a:off x="11878235" y="73734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82">
          <a:extLst>
            <a:ext uri="{FF2B5EF4-FFF2-40B4-BE49-F238E27FC236}">
              <a16:creationId xmlns:a16="http://schemas.microsoft.com/office/drawing/2014/main" id="{5CF0D5F3-D403-EDCB-9A64-8EC0D042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>
            <a:extLst>
              <a:ext uri="{FF2B5EF4-FFF2-40B4-BE49-F238E27FC236}">
                <a16:creationId xmlns:a16="http://schemas.microsoft.com/office/drawing/2014/main" id="{837D1768-E921-65F9-6F74-C119FC3C8370}"/>
              </a:ext>
            </a:extLst>
          </p:cNvPr>
          <p:cNvSpPr txBox="1"/>
          <p:nvPr/>
        </p:nvSpPr>
        <p:spPr>
          <a:xfrm>
            <a:off x="1760296" y="3789411"/>
            <a:ext cx="8330454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Analisi</a:t>
            </a:r>
            <a:r>
              <a:rPr lang="en-US" sz="8799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799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8799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799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dati</a:t>
            </a:r>
            <a:endParaRPr dirty="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86;p12">
            <a:extLst>
              <a:ext uri="{FF2B5EF4-FFF2-40B4-BE49-F238E27FC236}">
                <a16:creationId xmlns:a16="http://schemas.microsoft.com/office/drawing/2014/main" id="{8AEDB09C-B766-77BF-24FE-A58BF6A233CD}"/>
              </a:ext>
            </a:extLst>
          </p:cNvPr>
          <p:cNvSpPr txBox="1"/>
          <p:nvPr/>
        </p:nvSpPr>
        <p:spPr>
          <a:xfrm>
            <a:off x="1760296" y="5143500"/>
            <a:ext cx="833045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Prima </a:t>
            </a:r>
            <a:r>
              <a:rPr lang="en-US" sz="4400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analisi</a:t>
            </a:r>
            <a:r>
              <a:rPr lang="en-US" sz="4400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400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epslorativa</a:t>
            </a:r>
            <a:endParaRPr sz="4400" dirty="0"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92867503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/>
        </p:nvSpPr>
        <p:spPr>
          <a:xfrm>
            <a:off x="1028700" y="424225"/>
            <a:ext cx="111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262525" y="424225"/>
            <a:ext cx="1763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5648450" y="424225"/>
            <a:ext cx="161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7D8E2FD-E78C-C993-963F-997FFAD39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224"/>
            <a:ext cx="18288000" cy="925375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BE4C9E1-0B59-87B0-84D0-7D3B91381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63" y="707588"/>
            <a:ext cx="17922875" cy="8871824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617180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542922A-8041-5970-DF7D-762EEC7E8B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432"/>
          <a:stretch>
            <a:fillRect/>
          </a:stretch>
        </p:blipFill>
        <p:spPr>
          <a:xfrm>
            <a:off x="20" y="10"/>
            <a:ext cx="18287980" cy="1028699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54983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1806DA25-99ED-958D-C830-73E910B0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89615414-CDFD-2A14-ED71-A9A43C6464E8}"/>
              </a:ext>
            </a:extLst>
          </p:cNvPr>
          <p:cNvSpPr txBox="1"/>
          <p:nvPr/>
        </p:nvSpPr>
        <p:spPr>
          <a:xfrm>
            <a:off x="1028700" y="942994"/>
            <a:ext cx="6886426" cy="270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Scelta</a:t>
            </a:r>
            <a:r>
              <a:rPr lang="en-US" sz="8799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delle </a:t>
            </a:r>
            <a:r>
              <a:rPr lang="en-US" sz="8799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tabelle</a:t>
            </a:r>
            <a:r>
              <a:rPr lang="en-US" sz="8799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US" dirty="0"/>
          </a:p>
        </p:txBody>
      </p:sp>
      <p:sp>
        <p:nvSpPr>
          <p:cNvPr id="3" name="Google Shape;309;p25">
            <a:extLst>
              <a:ext uri="{FF2B5EF4-FFF2-40B4-BE49-F238E27FC236}">
                <a16:creationId xmlns:a16="http://schemas.microsoft.com/office/drawing/2014/main" id="{86C9F6D4-914B-AE84-E3CE-75099D4DA994}"/>
              </a:ext>
            </a:extLst>
          </p:cNvPr>
          <p:cNvSpPr/>
          <p:nvPr/>
        </p:nvSpPr>
        <p:spPr>
          <a:xfrm>
            <a:off x="1028700" y="3985140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E06662-3A2F-113E-FEC2-384527C25FB8}"/>
              </a:ext>
            </a:extLst>
          </p:cNvPr>
          <p:cNvSpPr txBox="1"/>
          <p:nvPr/>
        </p:nvSpPr>
        <p:spPr>
          <a:xfrm>
            <a:off x="12496799" y="982533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/>
              <a:t>Link dettagli </a:t>
            </a:r>
            <a:r>
              <a:rPr lang="it-IT" sz="2400" dirty="0" err="1"/>
              <a:t>eICU</a:t>
            </a:r>
            <a:r>
              <a:rPr lang="it-IT" sz="2400" dirty="0"/>
              <a:t>: https://</a:t>
            </a:r>
            <a:r>
              <a:rPr lang="it-IT" sz="2400" dirty="0" err="1"/>
              <a:t>eicu-crd.mit.edu</a:t>
            </a:r>
            <a:endParaRPr lang="it-IT" sz="2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88448B-27DF-AEAE-F5A6-B988C7ADC762}"/>
              </a:ext>
            </a:extLst>
          </p:cNvPr>
          <p:cNvSpPr txBox="1"/>
          <p:nvPr/>
        </p:nvSpPr>
        <p:spPr>
          <a:xfrm>
            <a:off x="1854750" y="3954459"/>
            <a:ext cx="635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Patient -&gt; Dati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Anagrafici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Google Shape;309;p25">
            <a:extLst>
              <a:ext uri="{FF2B5EF4-FFF2-40B4-BE49-F238E27FC236}">
                <a16:creationId xmlns:a16="http://schemas.microsoft.com/office/drawing/2014/main" id="{565C1856-6A75-DECA-C688-886EC8C7D99B}"/>
              </a:ext>
            </a:extLst>
          </p:cNvPr>
          <p:cNvSpPr/>
          <p:nvPr/>
        </p:nvSpPr>
        <p:spPr>
          <a:xfrm>
            <a:off x="1028700" y="5380858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D8FA32-06A3-558D-0356-97D8C5206133}"/>
              </a:ext>
            </a:extLst>
          </p:cNvPr>
          <p:cNvSpPr txBox="1"/>
          <p:nvPr/>
        </p:nvSpPr>
        <p:spPr>
          <a:xfrm>
            <a:off x="1854750" y="5350177"/>
            <a:ext cx="6858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Treatment -&gt;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Scelta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Trattamento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" name="Google Shape;309;p25">
            <a:extLst>
              <a:ext uri="{FF2B5EF4-FFF2-40B4-BE49-F238E27FC236}">
                <a16:creationId xmlns:a16="http://schemas.microsoft.com/office/drawing/2014/main" id="{57955F59-5125-5FBF-7768-9DF7A20AA267}"/>
              </a:ext>
            </a:extLst>
          </p:cNvPr>
          <p:cNvSpPr/>
          <p:nvPr/>
        </p:nvSpPr>
        <p:spPr>
          <a:xfrm>
            <a:off x="1028700" y="7330574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AEC2FC5-9D7B-B9A3-0063-EF65B499E9AD}"/>
              </a:ext>
            </a:extLst>
          </p:cNvPr>
          <p:cNvSpPr txBox="1"/>
          <p:nvPr/>
        </p:nvSpPr>
        <p:spPr>
          <a:xfrm>
            <a:off x="1854750" y="7299893"/>
            <a:ext cx="7414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Apache_* -&gt;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Punteggio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Apache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2" name="Google Shape;309;p25">
            <a:extLst>
              <a:ext uri="{FF2B5EF4-FFF2-40B4-BE49-F238E27FC236}">
                <a16:creationId xmlns:a16="http://schemas.microsoft.com/office/drawing/2014/main" id="{316C1589-C291-9313-844F-B2AFBC990C32}"/>
              </a:ext>
            </a:extLst>
          </p:cNvPr>
          <p:cNvSpPr/>
          <p:nvPr/>
        </p:nvSpPr>
        <p:spPr>
          <a:xfrm>
            <a:off x="9087970" y="3985140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04EF096-DB0A-A657-8738-1083901EE6D6}"/>
              </a:ext>
            </a:extLst>
          </p:cNvPr>
          <p:cNvSpPr txBox="1"/>
          <p:nvPr/>
        </p:nvSpPr>
        <p:spPr>
          <a:xfrm>
            <a:off x="9914020" y="3954459"/>
            <a:ext cx="635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Past_hist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-&gt; Storia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clinica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4" name="Google Shape;309;p25">
            <a:extLst>
              <a:ext uri="{FF2B5EF4-FFF2-40B4-BE49-F238E27FC236}">
                <a16:creationId xmlns:a16="http://schemas.microsoft.com/office/drawing/2014/main" id="{CFCCDC4D-40BE-FDE7-FFF2-0EC9417F1E4F}"/>
              </a:ext>
            </a:extLst>
          </p:cNvPr>
          <p:cNvSpPr/>
          <p:nvPr/>
        </p:nvSpPr>
        <p:spPr>
          <a:xfrm>
            <a:off x="9087970" y="5334691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F213A6F-932F-6E36-0F2D-EB4402FB7E5F}"/>
              </a:ext>
            </a:extLst>
          </p:cNvPr>
          <p:cNvSpPr txBox="1"/>
          <p:nvPr/>
        </p:nvSpPr>
        <p:spPr>
          <a:xfrm>
            <a:off x="9914020" y="5304010"/>
            <a:ext cx="6356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admissionDx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-&gt;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diagnosi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di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ammissione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89167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AFDC505F-BE32-235C-3DA4-6AAEB707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42AA6778-7B18-856D-F02D-A11E8A731F02}"/>
              </a:ext>
            </a:extLst>
          </p:cNvPr>
          <p:cNvSpPr txBox="1"/>
          <p:nvPr/>
        </p:nvSpPr>
        <p:spPr>
          <a:xfrm>
            <a:off x="1028700" y="942994"/>
            <a:ext cx="6886426" cy="270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Scelta</a:t>
            </a:r>
            <a:r>
              <a:rPr lang="en-US" sz="8799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delle Covariate </a:t>
            </a:r>
            <a:endParaRPr lang="en-US" dirty="0"/>
          </a:p>
        </p:txBody>
      </p:sp>
      <p:sp>
        <p:nvSpPr>
          <p:cNvPr id="3" name="Google Shape;309;p25">
            <a:extLst>
              <a:ext uri="{FF2B5EF4-FFF2-40B4-BE49-F238E27FC236}">
                <a16:creationId xmlns:a16="http://schemas.microsoft.com/office/drawing/2014/main" id="{8CF55C0A-8DBD-0F2A-2D98-E0A82DF5FF99}"/>
              </a:ext>
            </a:extLst>
          </p:cNvPr>
          <p:cNvSpPr/>
          <p:nvPr/>
        </p:nvSpPr>
        <p:spPr>
          <a:xfrm>
            <a:off x="1028700" y="3985140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2D1DE2-B77E-CB7D-B1A3-AAE362ABCFDF}"/>
              </a:ext>
            </a:extLst>
          </p:cNvPr>
          <p:cNvSpPr txBox="1"/>
          <p:nvPr/>
        </p:nvSpPr>
        <p:spPr>
          <a:xfrm>
            <a:off x="12496799" y="982533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/>
              <a:t>Link dettagli </a:t>
            </a:r>
            <a:r>
              <a:rPr lang="it-IT" sz="2400" dirty="0" err="1"/>
              <a:t>eICU</a:t>
            </a:r>
            <a:r>
              <a:rPr lang="it-IT" sz="2400" dirty="0"/>
              <a:t>: https://</a:t>
            </a:r>
            <a:r>
              <a:rPr lang="it-IT" sz="2400" dirty="0" err="1"/>
              <a:t>eicu-crd.mit.edu</a:t>
            </a:r>
            <a:endParaRPr lang="it-IT" sz="24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8A324EC-EC5E-F7D7-DEC7-D7A645626CFD}"/>
              </a:ext>
            </a:extLst>
          </p:cNvPr>
          <p:cNvSpPr txBox="1"/>
          <p:nvPr/>
        </p:nvSpPr>
        <p:spPr>
          <a:xfrm>
            <a:off x="1854750" y="3954459"/>
            <a:ext cx="635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Demografiche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(4)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8" name="Google Shape;309;p25">
            <a:extLst>
              <a:ext uri="{FF2B5EF4-FFF2-40B4-BE49-F238E27FC236}">
                <a16:creationId xmlns:a16="http://schemas.microsoft.com/office/drawing/2014/main" id="{F44E895E-32E5-D2D9-F379-3F4F02A98517}"/>
              </a:ext>
            </a:extLst>
          </p:cNvPr>
          <p:cNvSpPr/>
          <p:nvPr/>
        </p:nvSpPr>
        <p:spPr>
          <a:xfrm>
            <a:off x="1028700" y="4965440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FCB3C75-3B55-B91C-817B-3E37FB658BBF}"/>
              </a:ext>
            </a:extLst>
          </p:cNvPr>
          <p:cNvSpPr txBox="1"/>
          <p:nvPr/>
        </p:nvSpPr>
        <p:spPr>
          <a:xfrm>
            <a:off x="1854750" y="4934759"/>
            <a:ext cx="6858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Punteggio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di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Gravità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(1)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0" name="Google Shape;309;p25">
            <a:extLst>
              <a:ext uri="{FF2B5EF4-FFF2-40B4-BE49-F238E27FC236}">
                <a16:creationId xmlns:a16="http://schemas.microsoft.com/office/drawing/2014/main" id="{C4F96FB4-FB67-D0BA-36E2-B8F0EDA4A9CB}"/>
              </a:ext>
            </a:extLst>
          </p:cNvPr>
          <p:cNvSpPr/>
          <p:nvPr/>
        </p:nvSpPr>
        <p:spPr>
          <a:xfrm>
            <a:off x="1028700" y="5945740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63CD47-167D-642F-06F5-488C5829EB0D}"/>
              </a:ext>
            </a:extLst>
          </p:cNvPr>
          <p:cNvSpPr txBox="1"/>
          <p:nvPr/>
        </p:nvSpPr>
        <p:spPr>
          <a:xfrm>
            <a:off x="1854750" y="5915059"/>
            <a:ext cx="7414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Apache APS (12)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2" name="Google Shape;309;p25">
            <a:extLst>
              <a:ext uri="{FF2B5EF4-FFF2-40B4-BE49-F238E27FC236}">
                <a16:creationId xmlns:a16="http://schemas.microsoft.com/office/drawing/2014/main" id="{A7741A55-D1E7-983C-283C-9CAFE3997E3C}"/>
              </a:ext>
            </a:extLst>
          </p:cNvPr>
          <p:cNvSpPr/>
          <p:nvPr/>
        </p:nvSpPr>
        <p:spPr>
          <a:xfrm>
            <a:off x="9087970" y="3985140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1EDD01A-CF8B-40B6-5A20-9628A7177B31}"/>
              </a:ext>
            </a:extLst>
          </p:cNvPr>
          <p:cNvSpPr txBox="1"/>
          <p:nvPr/>
        </p:nvSpPr>
        <p:spPr>
          <a:xfrm>
            <a:off x="9914020" y="3954459"/>
            <a:ext cx="6356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Storia Clinica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Pregressa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(4)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6" name="Google Shape;309;p25">
            <a:extLst>
              <a:ext uri="{FF2B5EF4-FFF2-40B4-BE49-F238E27FC236}">
                <a16:creationId xmlns:a16="http://schemas.microsoft.com/office/drawing/2014/main" id="{86D9EA83-4954-74AC-97AF-36137990484D}"/>
              </a:ext>
            </a:extLst>
          </p:cNvPr>
          <p:cNvSpPr/>
          <p:nvPr/>
        </p:nvSpPr>
        <p:spPr>
          <a:xfrm>
            <a:off x="1028700" y="7027286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E9EAA59-F400-3E69-EBFC-3848FA298514}"/>
              </a:ext>
            </a:extLst>
          </p:cNvPr>
          <p:cNvSpPr txBox="1"/>
          <p:nvPr/>
        </p:nvSpPr>
        <p:spPr>
          <a:xfrm>
            <a:off x="1854750" y="6996605"/>
            <a:ext cx="7414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Diagnosi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(3)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17" name="Google Shape;309;p25">
            <a:extLst>
              <a:ext uri="{FF2B5EF4-FFF2-40B4-BE49-F238E27FC236}">
                <a16:creationId xmlns:a16="http://schemas.microsoft.com/office/drawing/2014/main" id="{ED852C00-3631-F6BB-CFEE-EAAB8008FC5C}"/>
              </a:ext>
            </a:extLst>
          </p:cNvPr>
          <p:cNvSpPr/>
          <p:nvPr/>
        </p:nvSpPr>
        <p:spPr>
          <a:xfrm>
            <a:off x="1028700" y="8139513"/>
            <a:ext cx="449984" cy="615650"/>
          </a:xfrm>
          <a:custGeom>
            <a:avLst/>
            <a:gdLst/>
            <a:ahLst/>
            <a:cxnLst/>
            <a:rect l="l" t="t" r="r" b="b"/>
            <a:pathLst>
              <a:path w="599979" h="820866" extrusionOk="0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9C425D6-2528-5BC2-B702-3F1F42E06BCB}"/>
              </a:ext>
            </a:extLst>
          </p:cNvPr>
          <p:cNvSpPr txBox="1"/>
          <p:nvPr/>
        </p:nvSpPr>
        <p:spPr>
          <a:xfrm>
            <a:off x="1854750" y="8108832"/>
            <a:ext cx="7414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Comformità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Apache - </a:t>
            </a:r>
            <a:r>
              <a:rPr lang="en-US" sz="3600" dirty="0" err="1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PredVar</a:t>
            </a:r>
            <a:r>
              <a:rPr lang="en-US" sz="3600" dirty="0">
                <a:solidFill>
                  <a:schemeClr val="tx1"/>
                </a:solidFill>
                <a:latin typeface="Inter Light"/>
                <a:ea typeface="Inter Light"/>
                <a:sym typeface="Inter Light"/>
              </a:rPr>
              <a:t> (6)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20" name="Google Shape;137;p16">
            <a:extLst>
              <a:ext uri="{FF2B5EF4-FFF2-40B4-BE49-F238E27FC236}">
                <a16:creationId xmlns:a16="http://schemas.microsoft.com/office/drawing/2014/main" id="{FCBBB45B-3E33-33F2-1FA6-E5FFA67FD8A9}"/>
              </a:ext>
            </a:extLst>
          </p:cNvPr>
          <p:cNvSpPr txBox="1"/>
          <p:nvPr/>
        </p:nvSpPr>
        <p:spPr>
          <a:xfrm>
            <a:off x="9914020" y="6385283"/>
            <a:ext cx="7414756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Totale</a:t>
            </a:r>
            <a:r>
              <a:rPr lang="en-US" sz="7700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 Covariate :30</a:t>
            </a:r>
            <a:endParaRPr lang="en-US" sz="7700" dirty="0"/>
          </a:p>
        </p:txBody>
      </p:sp>
    </p:spTree>
    <p:extLst>
      <p:ext uri="{BB962C8B-B14F-4D97-AF65-F5344CB8AC3E}">
        <p14:creationId xmlns:p14="http://schemas.microsoft.com/office/powerpoint/2010/main" val="271251838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CFA55DB-8B11-9030-6788-8115926B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19" y="101600"/>
            <a:ext cx="16947562" cy="1008380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31967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68D447A8-3AD5-BB60-8733-46F7EB37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2991D834-33F4-5B16-866D-3EB97DA18F6C}"/>
              </a:ext>
            </a:extLst>
          </p:cNvPr>
          <p:cNvSpPr txBox="1"/>
          <p:nvPr/>
        </p:nvSpPr>
        <p:spPr>
          <a:xfrm>
            <a:off x="1028700" y="1216123"/>
            <a:ext cx="6886426" cy="270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Domanda</a:t>
            </a:r>
            <a:r>
              <a:rPr lang="en-US" sz="8799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799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Causale</a:t>
            </a:r>
            <a:endParaRPr dirty="0"/>
          </a:p>
        </p:txBody>
      </p:sp>
      <p:sp>
        <p:nvSpPr>
          <p:cNvPr id="6" name="Google Shape;137;p16">
            <a:extLst>
              <a:ext uri="{FF2B5EF4-FFF2-40B4-BE49-F238E27FC236}">
                <a16:creationId xmlns:a16="http://schemas.microsoft.com/office/drawing/2014/main" id="{2CB57C4D-8A7F-36FD-B9DA-956E93302D0B}"/>
              </a:ext>
            </a:extLst>
          </p:cNvPr>
          <p:cNvSpPr txBox="1"/>
          <p:nvPr/>
        </p:nvSpPr>
        <p:spPr>
          <a:xfrm>
            <a:off x="3908612" y="4208265"/>
            <a:ext cx="10731383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4000" dirty="0">
                <a:latin typeface="Apple Braille" pitchFamily="2" charset="0"/>
              </a:rPr>
              <a:t>«Nei pazienti adulti ricoverati per la prima volta in ICU, la somministrazione di</a:t>
            </a:r>
          </a:p>
          <a:p>
            <a:r>
              <a:rPr lang="it-IT" sz="4000" dirty="0">
                <a:latin typeface="Apple Braille" pitchFamily="2" charset="0"/>
              </a:rPr>
              <a:t>antibiotici terapeutici entro le prime 24 ore dall’ammissione riduce la mortalità</a:t>
            </a:r>
          </a:p>
          <a:p>
            <a:r>
              <a:rPr lang="it-IT" sz="4000" dirty="0">
                <a:latin typeface="Apple Braille" pitchFamily="2" charset="0"/>
              </a:rPr>
              <a:t>ospedaliera rispetto alla mancata somministrazione o alla somministrazione</a:t>
            </a:r>
          </a:p>
          <a:p>
            <a:r>
              <a:rPr lang="it-IT" sz="4000" dirty="0">
                <a:latin typeface="Apple Braille" pitchFamily="2" charset="0"/>
              </a:rPr>
              <a:t>tardiva?»</a:t>
            </a:r>
          </a:p>
        </p:txBody>
      </p:sp>
    </p:spTree>
    <p:extLst>
      <p:ext uri="{BB962C8B-B14F-4D97-AF65-F5344CB8AC3E}">
        <p14:creationId xmlns:p14="http://schemas.microsoft.com/office/powerpoint/2010/main" val="5717715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8;p14">
            <a:extLst>
              <a:ext uri="{FF2B5EF4-FFF2-40B4-BE49-F238E27FC236}">
                <a16:creationId xmlns:a16="http://schemas.microsoft.com/office/drawing/2014/main" id="{47A650FE-631F-711E-8846-44B8DA5E5F84}"/>
              </a:ext>
            </a:extLst>
          </p:cNvPr>
          <p:cNvSpPr txBox="1"/>
          <p:nvPr/>
        </p:nvSpPr>
        <p:spPr>
          <a:xfrm>
            <a:off x="5600700" y="425266"/>
            <a:ext cx="70866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Assunzioni</a:t>
            </a:r>
            <a:endParaRPr lang="en-US" dirty="0"/>
          </a:p>
        </p:txBody>
      </p:sp>
      <p:sp>
        <p:nvSpPr>
          <p:cNvPr id="5" name="Google Shape;108;p14">
            <a:extLst>
              <a:ext uri="{FF2B5EF4-FFF2-40B4-BE49-F238E27FC236}">
                <a16:creationId xmlns:a16="http://schemas.microsoft.com/office/drawing/2014/main" id="{E0C6046A-D902-CC47-7E11-200D4BE46659}"/>
              </a:ext>
            </a:extLst>
          </p:cNvPr>
          <p:cNvSpPr txBox="1"/>
          <p:nvPr/>
        </p:nvSpPr>
        <p:spPr>
          <a:xfrm>
            <a:off x="11189278" y="1624381"/>
            <a:ext cx="787503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Positivity</a:t>
            </a:r>
            <a:endParaRPr lang="en-US" dirty="0"/>
          </a:p>
        </p:txBody>
      </p:sp>
      <p:sp>
        <p:nvSpPr>
          <p:cNvPr id="8" name="Google Shape;108;p14">
            <a:extLst>
              <a:ext uri="{FF2B5EF4-FFF2-40B4-BE49-F238E27FC236}">
                <a16:creationId xmlns:a16="http://schemas.microsoft.com/office/drawing/2014/main" id="{9799923B-9305-2019-657A-1414C7EC633C}"/>
              </a:ext>
            </a:extLst>
          </p:cNvPr>
          <p:cNvSpPr txBox="1"/>
          <p:nvPr/>
        </p:nvSpPr>
        <p:spPr>
          <a:xfrm>
            <a:off x="4739671" y="1692486"/>
            <a:ext cx="787503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Ignorability</a:t>
            </a:r>
            <a:endParaRPr lang="en-US" dirty="0"/>
          </a:p>
        </p:txBody>
      </p:sp>
      <p:sp>
        <p:nvSpPr>
          <p:cNvPr id="10" name="Google Shape;108;p14">
            <a:extLst>
              <a:ext uri="{FF2B5EF4-FFF2-40B4-BE49-F238E27FC236}">
                <a16:creationId xmlns:a16="http://schemas.microsoft.com/office/drawing/2014/main" id="{673B7243-6485-32BA-435A-5FDD8C55F46D}"/>
              </a:ext>
            </a:extLst>
          </p:cNvPr>
          <p:cNvSpPr txBox="1"/>
          <p:nvPr/>
        </p:nvSpPr>
        <p:spPr>
          <a:xfrm>
            <a:off x="-1206828" y="1834560"/>
            <a:ext cx="787503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SUTVA</a:t>
            </a:r>
            <a:endParaRPr lang="en-US" dirty="0"/>
          </a:p>
        </p:txBody>
      </p:sp>
      <p:cxnSp>
        <p:nvCxnSpPr>
          <p:cNvPr id="2" name="Google Shape;78;p11">
            <a:extLst>
              <a:ext uri="{FF2B5EF4-FFF2-40B4-BE49-F238E27FC236}">
                <a16:creationId xmlns:a16="http://schemas.microsoft.com/office/drawing/2014/main" id="{2EEFB938-C88F-9CD9-2D0F-AFEA945B3D34}"/>
              </a:ext>
            </a:extLst>
          </p:cNvPr>
          <p:cNvCxnSpPr/>
          <p:nvPr/>
        </p:nvCxnSpPr>
        <p:spPr>
          <a:xfrm rot="10800000">
            <a:off x="5673294" y="1555955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78;p11">
            <a:extLst>
              <a:ext uri="{FF2B5EF4-FFF2-40B4-BE49-F238E27FC236}">
                <a16:creationId xmlns:a16="http://schemas.microsoft.com/office/drawing/2014/main" id="{81A3E1B5-46BD-C57D-61DD-2F308710FF61}"/>
              </a:ext>
            </a:extLst>
          </p:cNvPr>
          <p:cNvCxnSpPr/>
          <p:nvPr/>
        </p:nvCxnSpPr>
        <p:spPr>
          <a:xfrm rot="10800000">
            <a:off x="11903848" y="1555955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08;p14">
            <a:extLst>
              <a:ext uri="{FF2B5EF4-FFF2-40B4-BE49-F238E27FC236}">
                <a16:creationId xmlns:a16="http://schemas.microsoft.com/office/drawing/2014/main" id="{95829B51-A594-3688-A3E0-CDF11257D94D}"/>
              </a:ext>
            </a:extLst>
          </p:cNvPr>
          <p:cNvSpPr txBox="1"/>
          <p:nvPr/>
        </p:nvSpPr>
        <p:spPr>
          <a:xfrm>
            <a:off x="636781" y="3222629"/>
            <a:ext cx="4605997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-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Nessuna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Interferenza</a:t>
            </a:r>
            <a:endParaRPr lang="en-US" dirty="0"/>
          </a:p>
        </p:txBody>
      </p:sp>
      <p:sp>
        <p:nvSpPr>
          <p:cNvPr id="14" name="Google Shape;108;p14">
            <a:extLst>
              <a:ext uri="{FF2B5EF4-FFF2-40B4-BE49-F238E27FC236}">
                <a16:creationId xmlns:a16="http://schemas.microsoft.com/office/drawing/2014/main" id="{215AAB81-845F-E724-346B-FA173EE1A8B1}"/>
              </a:ext>
            </a:extLst>
          </p:cNvPr>
          <p:cNvSpPr txBox="1"/>
          <p:nvPr/>
        </p:nvSpPr>
        <p:spPr>
          <a:xfrm>
            <a:off x="12290044" y="3090568"/>
            <a:ext cx="5673506" cy="482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-La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probabilità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di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ricevere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il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trattamento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dato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X,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è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strettamente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compreso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tra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0 e 1</a:t>
            </a:r>
            <a:endParaRPr lang="en-US" dirty="0"/>
          </a:p>
        </p:txBody>
      </p:sp>
      <p:sp>
        <p:nvSpPr>
          <p:cNvPr id="16" name="Google Shape;108;p14">
            <a:extLst>
              <a:ext uri="{FF2B5EF4-FFF2-40B4-BE49-F238E27FC236}">
                <a16:creationId xmlns:a16="http://schemas.microsoft.com/office/drawing/2014/main" id="{161EF6A3-BF23-CAD4-71C9-AC220A34223C}"/>
              </a:ext>
            </a:extLst>
          </p:cNvPr>
          <p:cNvSpPr txBox="1"/>
          <p:nvPr/>
        </p:nvSpPr>
        <p:spPr>
          <a:xfrm>
            <a:off x="636781" y="5300117"/>
            <a:ext cx="4605997" cy="275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-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Consistenza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delle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versioni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del</a:t>
            </a:r>
          </a:p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trattamento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endParaRPr lang="en-US" dirty="0"/>
          </a:p>
        </p:txBody>
      </p:sp>
      <p:sp>
        <p:nvSpPr>
          <p:cNvPr id="17" name="Google Shape;108;p14">
            <a:extLst>
              <a:ext uri="{FF2B5EF4-FFF2-40B4-BE49-F238E27FC236}">
                <a16:creationId xmlns:a16="http://schemas.microsoft.com/office/drawing/2014/main" id="{BDD05F17-5391-9167-3976-1E2B573C5BE0}"/>
              </a:ext>
            </a:extLst>
          </p:cNvPr>
          <p:cNvSpPr txBox="1"/>
          <p:nvPr/>
        </p:nvSpPr>
        <p:spPr>
          <a:xfrm>
            <a:off x="5986260" y="6678955"/>
            <a:ext cx="560462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-Non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esistono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confondenti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non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analizzati</a:t>
            </a:r>
            <a:endParaRPr lang="en-US" dirty="0"/>
          </a:p>
        </p:txBody>
      </p:sp>
      <p:sp>
        <p:nvSpPr>
          <p:cNvPr id="18" name="Google Shape;108;p14">
            <a:extLst>
              <a:ext uri="{FF2B5EF4-FFF2-40B4-BE49-F238E27FC236}">
                <a16:creationId xmlns:a16="http://schemas.microsoft.com/office/drawing/2014/main" id="{B324C334-78C4-E1B9-6649-56710CA12FB1}"/>
              </a:ext>
            </a:extLst>
          </p:cNvPr>
          <p:cNvSpPr txBox="1"/>
          <p:nvPr/>
        </p:nvSpPr>
        <p:spPr>
          <a:xfrm>
            <a:off x="6103808" y="2849626"/>
            <a:ext cx="5627774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-Dato X, la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scelta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del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trattamento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è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ind.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dagli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esiti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sym typeface="Inter"/>
              </a:rPr>
              <a:t>potenziali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218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43;p17">
            <a:extLst>
              <a:ext uri="{FF2B5EF4-FFF2-40B4-BE49-F238E27FC236}">
                <a16:creationId xmlns:a16="http://schemas.microsoft.com/office/drawing/2014/main" id="{EA4841A0-85A4-192A-D71C-D96C825B2D2D}"/>
              </a:ext>
            </a:extLst>
          </p:cNvPr>
          <p:cNvGrpSpPr/>
          <p:nvPr/>
        </p:nvGrpSpPr>
        <p:grpSpPr>
          <a:xfrm>
            <a:off x="1221612" y="1245324"/>
            <a:ext cx="6979050" cy="2031325"/>
            <a:chOff x="0" y="-1149839"/>
            <a:chExt cx="9305400" cy="2708433"/>
          </a:xfrm>
        </p:grpSpPr>
        <p:sp>
          <p:nvSpPr>
            <p:cNvPr id="3" name="Google Shape;144;p17">
              <a:extLst>
                <a:ext uri="{FF2B5EF4-FFF2-40B4-BE49-F238E27FC236}">
                  <a16:creationId xmlns:a16="http://schemas.microsoft.com/office/drawing/2014/main" id="{EACCCCC7-B925-F201-A8E8-7C27C447C2A1}"/>
                </a:ext>
              </a:extLst>
            </p:cNvPr>
            <p:cNvSpPr txBox="1"/>
            <p:nvPr/>
          </p:nvSpPr>
          <p:spPr>
            <a:xfrm>
              <a:off x="0" y="-1149839"/>
              <a:ext cx="7685872" cy="2708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Diagnostica </a:t>
              </a:r>
              <a:r>
                <a:rPr lang="en-US" sz="6600" b="0" i="0" u="none" strike="noStrike" cap="none" dirty="0" err="1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Causale</a:t>
              </a:r>
              <a:endParaRPr sz="6600" dirty="0"/>
            </a:p>
          </p:txBody>
        </p:sp>
        <p:sp>
          <p:nvSpPr>
            <p:cNvPr id="4" name="Google Shape;145;p17">
              <a:extLst>
                <a:ext uri="{FF2B5EF4-FFF2-40B4-BE49-F238E27FC236}">
                  <a16:creationId xmlns:a16="http://schemas.microsoft.com/office/drawing/2014/main" id="{B25D2800-7EFF-AE13-4693-04433903DF8A}"/>
                </a:ext>
              </a:extLst>
            </p:cNvPr>
            <p:cNvSpPr txBox="1"/>
            <p:nvPr/>
          </p:nvSpPr>
          <p:spPr>
            <a:xfrm>
              <a:off x="0" y="644313"/>
              <a:ext cx="9305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457232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E9AA9F2-0E28-37D1-5B94-DFD57B27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60" y="101600"/>
            <a:ext cx="16198881" cy="1008380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67104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E0CA10E-36B2-7FA3-89D4-635AFE44B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101600"/>
            <a:ext cx="10083800" cy="10083800"/>
          </a:xfrm>
          <a:prstGeom prst="rect">
            <a:avLst/>
          </a:prstGeom>
          <a:noFill/>
          <a:ln w="19050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40594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133">
          <a:extLst>
            <a:ext uri="{FF2B5EF4-FFF2-40B4-BE49-F238E27FC236}">
              <a16:creationId xmlns:a16="http://schemas.microsoft.com/office/drawing/2014/main" id="{9EC993BE-FD54-A917-BAE1-9BBB2A3E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C38292D5-D262-AAAD-F1F9-0E6A8DAB4F1C}"/>
              </a:ext>
            </a:extLst>
          </p:cNvPr>
          <p:cNvSpPr txBox="1"/>
          <p:nvPr/>
        </p:nvSpPr>
        <p:spPr>
          <a:xfrm>
            <a:off x="1028700" y="424225"/>
            <a:ext cx="165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798B3210-7ADC-10A8-FDA1-04F7560BD1D0}"/>
              </a:ext>
            </a:extLst>
          </p:cNvPr>
          <p:cNvSpPr txBox="1"/>
          <p:nvPr/>
        </p:nvSpPr>
        <p:spPr>
          <a:xfrm>
            <a:off x="7521524" y="424225"/>
            <a:ext cx="324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1E1CD0A7-19A8-3AA4-0AE7-8DF2B81E4CD6}"/>
              </a:ext>
            </a:extLst>
          </p:cNvPr>
          <p:cNvSpPr txBox="1"/>
          <p:nvPr/>
        </p:nvSpPr>
        <p:spPr>
          <a:xfrm>
            <a:off x="16018950" y="424225"/>
            <a:ext cx="124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494E3EBD-B433-79E5-9122-30D7B31EAC13}"/>
              </a:ext>
            </a:extLst>
          </p:cNvPr>
          <p:cNvSpPr txBox="1"/>
          <p:nvPr/>
        </p:nvSpPr>
        <p:spPr>
          <a:xfrm>
            <a:off x="1028699" y="4636453"/>
            <a:ext cx="10894359" cy="2708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9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Metodi </a:t>
            </a:r>
            <a:r>
              <a:rPr lang="en-US" sz="8799" b="0" i="0" u="none" strike="noStrike" cap="none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statistici</a:t>
            </a:r>
            <a:r>
              <a:rPr lang="en-US" sz="8799" b="0" i="0" u="none" strike="noStrike" cap="none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 e Machine Learning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228414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1028700" y="424225"/>
            <a:ext cx="1455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218950" y="424225"/>
            <a:ext cx="185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grpSp>
        <p:nvGrpSpPr>
          <p:cNvPr id="143" name="Google Shape;143;p17"/>
          <p:cNvGrpSpPr/>
          <p:nvPr/>
        </p:nvGrpSpPr>
        <p:grpSpPr>
          <a:xfrm>
            <a:off x="1239900" y="1885404"/>
            <a:ext cx="6979050" cy="1561058"/>
            <a:chOff x="0" y="-1149839"/>
            <a:chExt cx="9305400" cy="2081410"/>
          </a:xfrm>
        </p:grpSpPr>
        <p:sp>
          <p:nvSpPr>
            <p:cNvPr id="144" name="Google Shape;144;p17"/>
            <p:cNvSpPr txBox="1"/>
            <p:nvPr/>
          </p:nvSpPr>
          <p:spPr>
            <a:xfrm>
              <a:off x="0" y="-1149839"/>
              <a:ext cx="5599200" cy="98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Naïve</a:t>
              </a:r>
              <a:endParaRPr sz="4800" dirty="0"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0" y="644313"/>
              <a:ext cx="9305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7" name="Google Shape;157;p17"/>
          <p:cNvSpPr txBox="1"/>
          <p:nvPr/>
        </p:nvSpPr>
        <p:spPr>
          <a:xfrm>
            <a:off x="16062550" y="424225"/>
            <a:ext cx="119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grpSp>
        <p:nvGrpSpPr>
          <p:cNvPr id="2" name="Google Shape;143;p17">
            <a:extLst>
              <a:ext uri="{FF2B5EF4-FFF2-40B4-BE49-F238E27FC236}">
                <a16:creationId xmlns:a16="http://schemas.microsoft.com/office/drawing/2014/main" id="{C507C5B8-11FA-2746-1EC6-D405213B3A03}"/>
              </a:ext>
            </a:extLst>
          </p:cNvPr>
          <p:cNvGrpSpPr/>
          <p:nvPr/>
        </p:nvGrpSpPr>
        <p:grpSpPr>
          <a:xfrm>
            <a:off x="7044302" y="1885404"/>
            <a:ext cx="6979050" cy="1561058"/>
            <a:chOff x="0" y="-1149839"/>
            <a:chExt cx="9305400" cy="2081410"/>
          </a:xfrm>
        </p:grpSpPr>
        <p:sp>
          <p:nvSpPr>
            <p:cNvPr id="3" name="Google Shape;144;p17">
              <a:extLst>
                <a:ext uri="{FF2B5EF4-FFF2-40B4-BE49-F238E27FC236}">
                  <a16:creationId xmlns:a16="http://schemas.microsoft.com/office/drawing/2014/main" id="{EB367F28-F614-FAB6-4509-10870AC0413E}"/>
                </a:ext>
              </a:extLst>
            </p:cNvPr>
            <p:cNvSpPr txBox="1"/>
            <p:nvPr/>
          </p:nvSpPr>
          <p:spPr>
            <a:xfrm>
              <a:off x="0" y="-1149839"/>
              <a:ext cx="5599200" cy="1969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IPW (</a:t>
              </a:r>
              <a:r>
                <a:rPr lang="en-US" sz="4800" b="0" i="0" u="none" strike="noStrike" cap="none" dirty="0" err="1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Stabilizzato</a:t>
              </a:r>
              <a:r>
                <a:rPr lang="en-US" sz="48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sz="4800" dirty="0"/>
            </a:p>
          </p:txBody>
        </p:sp>
        <p:sp>
          <p:nvSpPr>
            <p:cNvPr id="4" name="Google Shape;145;p17">
              <a:extLst>
                <a:ext uri="{FF2B5EF4-FFF2-40B4-BE49-F238E27FC236}">
                  <a16:creationId xmlns:a16="http://schemas.microsoft.com/office/drawing/2014/main" id="{93496973-7B3E-52ED-7886-7376F9FE4FF8}"/>
                </a:ext>
              </a:extLst>
            </p:cNvPr>
            <p:cNvSpPr txBox="1"/>
            <p:nvPr/>
          </p:nvSpPr>
          <p:spPr>
            <a:xfrm>
              <a:off x="0" y="644313"/>
              <a:ext cx="9305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" name="Google Shape;143;p17">
            <a:extLst>
              <a:ext uri="{FF2B5EF4-FFF2-40B4-BE49-F238E27FC236}">
                <a16:creationId xmlns:a16="http://schemas.microsoft.com/office/drawing/2014/main" id="{92E0FA90-D75B-05E5-7D4A-A9654F7427EA}"/>
              </a:ext>
            </a:extLst>
          </p:cNvPr>
          <p:cNvGrpSpPr/>
          <p:nvPr/>
        </p:nvGrpSpPr>
        <p:grpSpPr>
          <a:xfrm>
            <a:off x="12848702" y="1885404"/>
            <a:ext cx="6979050" cy="2215991"/>
            <a:chOff x="0" y="-1149839"/>
            <a:chExt cx="9305400" cy="2954654"/>
          </a:xfrm>
        </p:grpSpPr>
        <p:sp>
          <p:nvSpPr>
            <p:cNvPr id="6" name="Google Shape;144;p17">
              <a:extLst>
                <a:ext uri="{FF2B5EF4-FFF2-40B4-BE49-F238E27FC236}">
                  <a16:creationId xmlns:a16="http://schemas.microsoft.com/office/drawing/2014/main" id="{C03301A6-C6D0-A9B9-CC45-F8F7992DF393}"/>
                </a:ext>
              </a:extLst>
            </p:cNvPr>
            <p:cNvSpPr txBox="1"/>
            <p:nvPr/>
          </p:nvSpPr>
          <p:spPr>
            <a:xfrm>
              <a:off x="0" y="-1149839"/>
              <a:ext cx="5599200" cy="2954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AIPW (</a:t>
              </a:r>
              <a:r>
                <a:rPr lang="en-US" sz="4800" b="0" i="0" u="none" strike="noStrike" cap="none" dirty="0" err="1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Doppiamente</a:t>
              </a:r>
              <a:r>
                <a:rPr lang="en-US" sz="48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 Robusto)</a:t>
              </a:r>
              <a:endParaRPr sz="4800" dirty="0"/>
            </a:p>
          </p:txBody>
        </p:sp>
        <p:sp>
          <p:nvSpPr>
            <p:cNvPr id="7" name="Google Shape;145;p17">
              <a:extLst>
                <a:ext uri="{FF2B5EF4-FFF2-40B4-BE49-F238E27FC236}">
                  <a16:creationId xmlns:a16="http://schemas.microsoft.com/office/drawing/2014/main" id="{284547F9-DAF2-45C4-C62A-779E6CA9F512}"/>
                </a:ext>
              </a:extLst>
            </p:cNvPr>
            <p:cNvSpPr txBox="1"/>
            <p:nvPr/>
          </p:nvSpPr>
          <p:spPr>
            <a:xfrm>
              <a:off x="0" y="644313"/>
              <a:ext cx="9305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8" name="Google Shape;208;p21">
            <a:extLst>
              <a:ext uri="{FF2B5EF4-FFF2-40B4-BE49-F238E27FC236}">
                <a16:creationId xmlns:a16="http://schemas.microsoft.com/office/drawing/2014/main" id="{B6F9BA8B-BAC6-252D-6CC9-4FA192220037}"/>
              </a:ext>
            </a:extLst>
          </p:cNvPr>
          <p:cNvCxnSpPr/>
          <p:nvPr/>
        </p:nvCxnSpPr>
        <p:spPr>
          <a:xfrm rot="10800000">
            <a:off x="6017979" y="1369359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208;p21">
            <a:extLst>
              <a:ext uri="{FF2B5EF4-FFF2-40B4-BE49-F238E27FC236}">
                <a16:creationId xmlns:a16="http://schemas.microsoft.com/office/drawing/2014/main" id="{D9D21AFA-9475-D3E3-C475-0B67FB041A6A}"/>
              </a:ext>
            </a:extLst>
          </p:cNvPr>
          <p:cNvCxnSpPr/>
          <p:nvPr/>
        </p:nvCxnSpPr>
        <p:spPr>
          <a:xfrm rot="10800000">
            <a:off x="12223133" y="1369359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79;p19">
            <a:extLst>
              <a:ext uri="{FF2B5EF4-FFF2-40B4-BE49-F238E27FC236}">
                <a16:creationId xmlns:a16="http://schemas.microsoft.com/office/drawing/2014/main" id="{DF663FD6-5917-8C96-863C-B5BF2617CCE5}"/>
              </a:ext>
            </a:extLst>
          </p:cNvPr>
          <p:cNvSpPr txBox="1"/>
          <p:nvPr/>
        </p:nvSpPr>
        <p:spPr>
          <a:xfrm>
            <a:off x="487158" y="4346099"/>
            <a:ext cx="5241481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Differenza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senza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bilanciamento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.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Non produce uno studio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causale</a:t>
            </a:r>
            <a:endParaRPr sz="4400" dirty="0"/>
          </a:p>
        </p:txBody>
      </p:sp>
      <p:sp>
        <p:nvSpPr>
          <p:cNvPr id="12" name="Google Shape;179;p19">
            <a:extLst>
              <a:ext uri="{FF2B5EF4-FFF2-40B4-BE49-F238E27FC236}">
                <a16:creationId xmlns:a16="http://schemas.microsoft.com/office/drawing/2014/main" id="{435D1E50-F3BE-99A7-C7CB-3C9DAB2153CB}"/>
              </a:ext>
            </a:extLst>
          </p:cNvPr>
          <p:cNvSpPr txBox="1"/>
          <p:nvPr/>
        </p:nvSpPr>
        <p:spPr>
          <a:xfrm>
            <a:off x="6523259" y="4346099"/>
            <a:ext cx="5241481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Calcolo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del PS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Ripesatura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-Pseudo-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popolazione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400" dirty="0"/>
          </a:p>
        </p:txBody>
      </p:sp>
      <p:sp>
        <p:nvSpPr>
          <p:cNvPr id="13" name="Google Shape;179;p19">
            <a:extLst>
              <a:ext uri="{FF2B5EF4-FFF2-40B4-BE49-F238E27FC236}">
                <a16:creationId xmlns:a16="http://schemas.microsoft.com/office/drawing/2014/main" id="{E5C832C9-6722-E8F0-FB8C-5B87E9891B12}"/>
              </a:ext>
            </a:extLst>
          </p:cNvPr>
          <p:cNvSpPr txBox="1"/>
          <p:nvPr/>
        </p:nvSpPr>
        <p:spPr>
          <a:xfrm>
            <a:off x="12848702" y="4346099"/>
            <a:ext cx="524148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Modello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di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Regressione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-IPW</a:t>
            </a:r>
            <a:endParaRPr lang="en-US" sz="44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/>
        </p:nvSpPr>
        <p:spPr>
          <a:xfrm>
            <a:off x="1028700" y="1359837"/>
            <a:ext cx="70677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0" i="0" u="none" strike="noStrike" cap="none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DragonNet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1028700" y="424225"/>
            <a:ext cx="1347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22799" y="424225"/>
            <a:ext cx="224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6062550" y="424225"/>
            <a:ext cx="119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 rot="10800000">
            <a:off x="9144000" y="1028700"/>
            <a:ext cx="0" cy="8229600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 descr="TARNet and Dragonnet: Causal Inference Between S- And T-Learners | Towards  Data Science">
            <a:extLst>
              <a:ext uri="{FF2B5EF4-FFF2-40B4-BE49-F238E27FC236}">
                <a16:creationId xmlns:a16="http://schemas.microsoft.com/office/drawing/2014/main" id="{6FA488F3-DE9F-D045-9D63-C1629B4A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2800350"/>
            <a:ext cx="75946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79;p19">
            <a:extLst>
              <a:ext uri="{FF2B5EF4-FFF2-40B4-BE49-F238E27FC236}">
                <a16:creationId xmlns:a16="http://schemas.microsoft.com/office/drawing/2014/main" id="{F13E6EC6-294C-C1A9-9002-EA56B36FF5FF}"/>
              </a:ext>
            </a:extLst>
          </p:cNvPr>
          <p:cNvSpPr txBox="1"/>
          <p:nvPr/>
        </p:nvSpPr>
        <p:spPr>
          <a:xfrm>
            <a:off x="10265299" y="4383047"/>
            <a:ext cx="5241481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Ottimizzatori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-Adam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-SGD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</p:txBody>
      </p:sp>
      <p:sp>
        <p:nvSpPr>
          <p:cNvPr id="7" name="Google Shape;179;p19">
            <a:extLst>
              <a:ext uri="{FF2B5EF4-FFF2-40B4-BE49-F238E27FC236}">
                <a16:creationId xmlns:a16="http://schemas.microsoft.com/office/drawing/2014/main" id="{03C90557-1355-7B4A-102F-DCCF26F6BC6A}"/>
              </a:ext>
            </a:extLst>
          </p:cNvPr>
          <p:cNvSpPr txBox="1"/>
          <p:nvPr/>
        </p:nvSpPr>
        <p:spPr>
          <a:xfrm>
            <a:off x="10265299" y="1359837"/>
            <a:ext cx="5241481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Teste: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-Propensity Score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-Outcome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Trattato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-Outcome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Controllo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</p:txBody>
      </p:sp>
    </p:spTree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346762C6-5CBF-2374-4C2E-7249B1C3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367775"/>
              </p:ext>
            </p:extLst>
          </p:nvPr>
        </p:nvGraphicFramePr>
        <p:xfrm>
          <a:off x="950976" y="2157984"/>
          <a:ext cx="16386048" cy="43967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4096512">
                  <a:extLst>
                    <a:ext uri="{9D8B030D-6E8A-4147-A177-3AD203B41FA5}">
                      <a16:colId xmlns:a16="http://schemas.microsoft.com/office/drawing/2014/main" val="3658679478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605861869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3394510790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594356207"/>
                    </a:ext>
                  </a:extLst>
                </a:gridCol>
              </a:tblGrid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  <a:cs typeface="Al Tarikh" pitchFamily="2" charset="-78"/>
                        </a:rPr>
                        <a:t>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  <a:cs typeface="Al Tarikh" pitchFamily="2" charset="-78"/>
                        </a:rPr>
                        <a:t>ATE</a:t>
                      </a:r>
                      <a:endParaRPr lang="it-IT" sz="3300" baseline="0" dirty="0">
                        <a:latin typeface="Apple Braille Outline 8 Do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</a:rPr>
                        <a:t>IC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</a:rPr>
                        <a:t>Significatività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775207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+3.54%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432663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IPW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+0.07%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[-2.85%, +4.45%]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NON 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52819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AIPW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[-3.46%, +2.96%]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NON 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575520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 err="1">
                          <a:latin typeface="Apple Braille Outline 8 Dot" pitchFamily="2" charset="0"/>
                        </a:rPr>
                        <a:t>DragonNet</a:t>
                      </a:r>
                      <a:endParaRPr lang="it-IT" sz="3300" baseline="0" dirty="0">
                        <a:latin typeface="Apple Braille Outline 8 Do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-1.86%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rgbClr val="FF0000"/>
                          </a:solidFill>
                          <a:latin typeface="Apple Braille Outline 8 Dot" pitchFamily="2" charset="0"/>
                        </a:rPr>
                        <a:t>[-56.17%, +71.60%]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ple Braille Outline 8 Dot" pitchFamily="2" charset="0"/>
                        </a:rPr>
                        <a:t>Impreciso (IC ampio)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681708"/>
                  </a:ext>
                </a:extLst>
              </a:tr>
            </a:tbl>
          </a:graphicData>
        </a:graphic>
      </p:graphicFrame>
      <p:sp>
        <p:nvSpPr>
          <p:cNvPr id="5" name="Google Shape;68;p11">
            <a:extLst>
              <a:ext uri="{FF2B5EF4-FFF2-40B4-BE49-F238E27FC236}">
                <a16:creationId xmlns:a16="http://schemas.microsoft.com/office/drawing/2014/main" id="{6C8A7431-70A8-2CA5-7817-B0E94A876DBA}"/>
              </a:ext>
            </a:extLst>
          </p:cNvPr>
          <p:cNvSpPr txBox="1"/>
          <p:nvPr/>
        </p:nvSpPr>
        <p:spPr>
          <a:xfrm>
            <a:off x="5742000" y="840947"/>
            <a:ext cx="680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RISULTATI</a:t>
            </a:r>
          </a:p>
        </p:txBody>
      </p:sp>
      <p:sp>
        <p:nvSpPr>
          <p:cNvPr id="7" name="Google Shape;68;p11">
            <a:extLst>
              <a:ext uri="{FF2B5EF4-FFF2-40B4-BE49-F238E27FC236}">
                <a16:creationId xmlns:a16="http://schemas.microsoft.com/office/drawing/2014/main" id="{77045D83-E15C-91BA-70F7-0E226CFA9BD6}"/>
              </a:ext>
            </a:extLst>
          </p:cNvPr>
          <p:cNvSpPr txBox="1"/>
          <p:nvPr/>
        </p:nvSpPr>
        <p:spPr>
          <a:xfrm>
            <a:off x="5742000" y="7009987"/>
            <a:ext cx="1111953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DragonNet</a:t>
            </a:r>
            <a:r>
              <a:rPr lang="en-US" sz="5600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Instabile</a:t>
            </a:r>
            <a:endParaRPr lang="en-US" sz="5600" dirty="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Coorte</a:t>
            </a:r>
            <a:r>
              <a:rPr lang="en-US" sz="5600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troppo</a:t>
            </a:r>
            <a:r>
              <a:rPr lang="en-US" sz="5600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piccolo </a:t>
            </a: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DragonNet</a:t>
            </a:r>
            <a:r>
              <a:rPr lang="en-US" sz="5600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troppo</a:t>
            </a:r>
            <a:r>
              <a:rPr lang="en-US" sz="5600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complesso</a:t>
            </a:r>
            <a:endParaRPr lang="en-US" sz="5600" dirty="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00142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9;p19">
            <a:extLst>
              <a:ext uri="{FF2B5EF4-FFF2-40B4-BE49-F238E27FC236}">
                <a16:creationId xmlns:a16="http://schemas.microsoft.com/office/drawing/2014/main" id="{20ACDB99-906A-FBE5-7016-651F5DA266EB}"/>
              </a:ext>
            </a:extLst>
          </p:cNvPr>
          <p:cNvSpPr txBox="1"/>
          <p:nvPr/>
        </p:nvSpPr>
        <p:spPr>
          <a:xfrm>
            <a:off x="992776" y="7317257"/>
            <a:ext cx="163024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https://</a:t>
            </a:r>
            <a:r>
              <a:rPr lang="en-US" sz="2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www.sciencedirect.com</a:t>
            </a:r>
            <a:r>
              <a:rPr lang="en-US" sz="2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/science/article/</a:t>
            </a:r>
            <a:r>
              <a:rPr lang="en-US" sz="2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pii</a:t>
            </a:r>
            <a:r>
              <a:rPr lang="en-US" sz="2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/S0169409X25002479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C1D5E9D-87B6-4822-BBEF-1AA47E4D8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59" y="2997489"/>
            <a:ext cx="16487281" cy="4292021"/>
          </a:xfrm>
          <a:prstGeom prst="rect">
            <a:avLst/>
          </a:prstGeom>
        </p:spPr>
      </p:pic>
      <p:sp>
        <p:nvSpPr>
          <p:cNvPr id="9" name="Google Shape;68;p11">
            <a:extLst>
              <a:ext uri="{FF2B5EF4-FFF2-40B4-BE49-F238E27FC236}">
                <a16:creationId xmlns:a16="http://schemas.microsoft.com/office/drawing/2014/main" id="{138CB857-1D79-1D00-30AF-C78D2ED23FC5}"/>
              </a:ext>
            </a:extLst>
          </p:cNvPr>
          <p:cNvSpPr txBox="1"/>
          <p:nvPr/>
        </p:nvSpPr>
        <p:spPr>
          <a:xfrm>
            <a:off x="5742000" y="840947"/>
            <a:ext cx="680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Instabilità</a:t>
            </a:r>
            <a:r>
              <a:rPr lang="en-US" sz="5600" b="1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DL</a:t>
            </a:r>
          </a:p>
        </p:txBody>
      </p:sp>
    </p:spTree>
    <p:extLst>
      <p:ext uri="{BB962C8B-B14F-4D97-AF65-F5344CB8AC3E}">
        <p14:creationId xmlns:p14="http://schemas.microsoft.com/office/powerpoint/2010/main" val="3125290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3E8AE7CC-6CD1-B643-4087-465F0FD277C5}"/>
              </a:ext>
            </a:extLst>
          </p:cNvPr>
          <p:cNvSpPr txBox="1"/>
          <p:nvPr/>
        </p:nvSpPr>
        <p:spPr>
          <a:xfrm>
            <a:off x="5029893" y="582421"/>
            <a:ext cx="822821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Proviamo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qualcos’altro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Google Shape;68;p11">
            <a:extLst>
              <a:ext uri="{FF2B5EF4-FFF2-40B4-BE49-F238E27FC236}">
                <a16:creationId xmlns:a16="http://schemas.microsoft.com/office/drawing/2014/main" id="{425C83D2-0C9F-8008-0F0D-C925FC439E11}"/>
              </a:ext>
            </a:extLst>
          </p:cNvPr>
          <p:cNvSpPr txBox="1"/>
          <p:nvPr/>
        </p:nvSpPr>
        <p:spPr>
          <a:xfrm>
            <a:off x="5029893" y="1696326"/>
            <a:ext cx="8228214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DR Learner +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</a:p>
        </p:txBody>
      </p:sp>
      <p:grpSp>
        <p:nvGrpSpPr>
          <p:cNvPr id="5" name="Google Shape;143;p17">
            <a:extLst>
              <a:ext uri="{FF2B5EF4-FFF2-40B4-BE49-F238E27FC236}">
                <a16:creationId xmlns:a16="http://schemas.microsoft.com/office/drawing/2014/main" id="{0EFA6C36-285F-DCE7-5F17-BCA0B1AC8447}"/>
              </a:ext>
            </a:extLst>
          </p:cNvPr>
          <p:cNvGrpSpPr/>
          <p:nvPr/>
        </p:nvGrpSpPr>
        <p:grpSpPr>
          <a:xfrm>
            <a:off x="1222122" y="3273741"/>
            <a:ext cx="3311319" cy="1534471"/>
            <a:chOff x="-3" y="-1149839"/>
            <a:chExt cx="9305403" cy="2081410"/>
          </a:xfrm>
        </p:grpSpPr>
        <p:sp>
          <p:nvSpPr>
            <p:cNvPr id="6" name="Google Shape;144;p17">
              <a:extLst>
                <a:ext uri="{FF2B5EF4-FFF2-40B4-BE49-F238E27FC236}">
                  <a16:creationId xmlns:a16="http://schemas.microsoft.com/office/drawing/2014/main" id="{E8284AA3-489F-A18E-42FD-ADE35F9DD6E8}"/>
                </a:ext>
              </a:extLst>
            </p:cNvPr>
            <p:cNvSpPr txBox="1"/>
            <p:nvPr/>
          </p:nvSpPr>
          <p:spPr>
            <a:xfrm>
              <a:off x="-3" y="-1149839"/>
              <a:ext cx="9305386" cy="100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DR Learner</a:t>
              </a:r>
              <a:endParaRPr sz="4800" dirty="0"/>
            </a:p>
          </p:txBody>
        </p:sp>
        <p:sp>
          <p:nvSpPr>
            <p:cNvPr id="7" name="Google Shape;145;p17">
              <a:extLst>
                <a:ext uri="{FF2B5EF4-FFF2-40B4-BE49-F238E27FC236}">
                  <a16:creationId xmlns:a16="http://schemas.microsoft.com/office/drawing/2014/main" id="{1E306B3E-94D0-01C7-E5E4-238EC8557834}"/>
                </a:ext>
              </a:extLst>
            </p:cNvPr>
            <p:cNvSpPr txBox="1"/>
            <p:nvPr/>
          </p:nvSpPr>
          <p:spPr>
            <a:xfrm>
              <a:off x="0" y="644313"/>
              <a:ext cx="9305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9" name="Google Shape;208;p21">
            <a:extLst>
              <a:ext uri="{FF2B5EF4-FFF2-40B4-BE49-F238E27FC236}">
                <a16:creationId xmlns:a16="http://schemas.microsoft.com/office/drawing/2014/main" id="{5C0E2412-55D1-D776-6C06-F29B3530F297}"/>
              </a:ext>
            </a:extLst>
          </p:cNvPr>
          <p:cNvCxnSpPr>
            <a:cxnSpLocks/>
          </p:cNvCxnSpPr>
          <p:nvPr/>
        </p:nvCxnSpPr>
        <p:spPr>
          <a:xfrm flipV="1">
            <a:off x="6017979" y="3273741"/>
            <a:ext cx="0" cy="6325218"/>
          </a:xfrm>
          <a:prstGeom prst="straightConnector1">
            <a:avLst/>
          </a:prstGeom>
          <a:noFill/>
          <a:ln w="9525" cap="flat" cmpd="sng">
            <a:solidFill>
              <a:srgbClr val="C2D0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79;p19">
            <a:extLst>
              <a:ext uri="{FF2B5EF4-FFF2-40B4-BE49-F238E27FC236}">
                <a16:creationId xmlns:a16="http://schemas.microsoft.com/office/drawing/2014/main" id="{5CB4F01F-DD3D-0077-219A-C37C2DB06844}"/>
              </a:ext>
            </a:extLst>
          </p:cNvPr>
          <p:cNvSpPr txBox="1"/>
          <p:nvPr/>
        </p:nvSpPr>
        <p:spPr>
          <a:xfrm>
            <a:off x="487155" y="5174355"/>
            <a:ext cx="4781246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-Meta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Algoritmo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Calcolo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del: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-Propensity Score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-Outcome Model</a:t>
            </a:r>
          </a:p>
        </p:txBody>
      </p:sp>
      <p:grpSp>
        <p:nvGrpSpPr>
          <p:cNvPr id="13" name="Google Shape;143;p17">
            <a:extLst>
              <a:ext uri="{FF2B5EF4-FFF2-40B4-BE49-F238E27FC236}">
                <a16:creationId xmlns:a16="http://schemas.microsoft.com/office/drawing/2014/main" id="{A2C66C0C-6875-A9DC-D6ED-DA51844313AB}"/>
              </a:ext>
            </a:extLst>
          </p:cNvPr>
          <p:cNvGrpSpPr/>
          <p:nvPr/>
        </p:nvGrpSpPr>
        <p:grpSpPr>
          <a:xfrm>
            <a:off x="10681747" y="3273741"/>
            <a:ext cx="3311319" cy="1534471"/>
            <a:chOff x="-3" y="-1149839"/>
            <a:chExt cx="9305403" cy="2081410"/>
          </a:xfrm>
        </p:grpSpPr>
        <p:sp>
          <p:nvSpPr>
            <p:cNvPr id="14" name="Google Shape;144;p17">
              <a:extLst>
                <a:ext uri="{FF2B5EF4-FFF2-40B4-BE49-F238E27FC236}">
                  <a16:creationId xmlns:a16="http://schemas.microsoft.com/office/drawing/2014/main" id="{3508800B-E087-67F9-834C-99BA001AAD57}"/>
                </a:ext>
              </a:extLst>
            </p:cNvPr>
            <p:cNvSpPr txBox="1"/>
            <p:nvPr/>
          </p:nvSpPr>
          <p:spPr>
            <a:xfrm>
              <a:off x="-3" y="-1149839"/>
              <a:ext cx="9305386" cy="100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0" i="0" u="none" strike="noStrike" cap="none" dirty="0" err="1">
                  <a:solidFill>
                    <a:srgbClr val="C2D076"/>
                  </a:solidFill>
                  <a:latin typeface="Inter"/>
                  <a:ea typeface="Inter"/>
                  <a:cs typeface="Inter"/>
                  <a:sym typeface="Inter"/>
                </a:rPr>
                <a:t>XGBoost</a:t>
              </a:r>
              <a:endParaRPr sz="4800" dirty="0"/>
            </a:p>
          </p:txBody>
        </p:sp>
        <p:sp>
          <p:nvSpPr>
            <p:cNvPr id="16" name="Google Shape;145;p17">
              <a:extLst>
                <a:ext uri="{FF2B5EF4-FFF2-40B4-BE49-F238E27FC236}">
                  <a16:creationId xmlns:a16="http://schemas.microsoft.com/office/drawing/2014/main" id="{7DFF1397-97BB-08FD-6E4C-674D0EB09C2C}"/>
                </a:ext>
              </a:extLst>
            </p:cNvPr>
            <p:cNvSpPr txBox="1"/>
            <p:nvPr/>
          </p:nvSpPr>
          <p:spPr>
            <a:xfrm>
              <a:off x="0" y="644313"/>
              <a:ext cx="9305400" cy="287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8" name="Google Shape;179;p19">
            <a:extLst>
              <a:ext uri="{FF2B5EF4-FFF2-40B4-BE49-F238E27FC236}">
                <a16:creationId xmlns:a16="http://schemas.microsoft.com/office/drawing/2014/main" id="{64C76243-85F8-CA19-B8DB-0C3A169B8ED5}"/>
              </a:ext>
            </a:extLst>
          </p:cNvPr>
          <p:cNvSpPr txBox="1"/>
          <p:nvPr/>
        </p:nvSpPr>
        <p:spPr>
          <a:xfrm>
            <a:off x="7198684" y="4816646"/>
            <a:ext cx="10142675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Algoritmo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basato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su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alberi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-Gradient Boosted Decision Tree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Gestisce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la non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linearità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Efficiente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nei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dataset medio/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piccoli</a:t>
            </a:r>
            <a:endParaRPr lang="en-US" sz="4400" dirty="0">
              <a:solidFill>
                <a:srgbClr val="FFFFFF"/>
              </a:solidFill>
              <a:latin typeface="Inter Light"/>
              <a:ea typeface="Inter Light"/>
              <a:sym typeface="Inter Light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-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regolarizzazione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, </a:t>
            </a:r>
            <a:r>
              <a:rPr lang="en-US" sz="44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previene</a:t>
            </a:r>
            <a:r>
              <a:rPr lang="en-US" sz="4400" dirty="0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 overfitting</a:t>
            </a:r>
          </a:p>
        </p:txBody>
      </p:sp>
    </p:spTree>
    <p:extLst>
      <p:ext uri="{BB962C8B-B14F-4D97-AF65-F5344CB8AC3E}">
        <p14:creationId xmlns:p14="http://schemas.microsoft.com/office/powerpoint/2010/main" val="1498549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8A4EB55-A896-6B47-7A93-5E616AE4B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316972"/>
              </p:ext>
            </p:extLst>
          </p:nvPr>
        </p:nvGraphicFramePr>
        <p:xfrm>
          <a:off x="950976" y="2396490"/>
          <a:ext cx="16386048" cy="54940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4096512">
                  <a:extLst>
                    <a:ext uri="{9D8B030D-6E8A-4147-A177-3AD203B41FA5}">
                      <a16:colId xmlns:a16="http://schemas.microsoft.com/office/drawing/2014/main" val="3658679478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605861869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3394510790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594356207"/>
                    </a:ext>
                  </a:extLst>
                </a:gridCol>
              </a:tblGrid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  <a:cs typeface="Al Tarikh" pitchFamily="2" charset="-78"/>
                        </a:rPr>
                        <a:t>Metodo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  <a:cs typeface="Al Tarikh" pitchFamily="2" charset="-78"/>
                        </a:rPr>
                        <a:t>ATE</a:t>
                      </a:r>
                      <a:endParaRPr lang="it-IT" sz="3300" baseline="0" dirty="0">
                        <a:latin typeface="Apple Braille Outline 8 Do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</a:rPr>
                        <a:t>IC 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</a:rPr>
                        <a:t>Significatività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775207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NAIVE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+3.54%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432663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IPW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+0.07%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[-2.85%, +4.45%]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NON 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452819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AIPW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+0.14%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[-3.46%, +2.96%]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NON 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575520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 err="1">
                          <a:latin typeface="Apple Braille Outline 8 Dot" pitchFamily="2" charset="0"/>
                        </a:rPr>
                        <a:t>DragonNet</a:t>
                      </a:r>
                      <a:endParaRPr lang="it-IT" sz="3300" baseline="0" dirty="0">
                        <a:latin typeface="Apple Braille Outline 8 Do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-1.86%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rgbClr val="FF0000"/>
                          </a:solidFill>
                          <a:latin typeface="Apple Braille Outline 8 Dot" pitchFamily="2" charset="0"/>
                        </a:rPr>
                        <a:t>[-56.17%, +71.60%]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pple Braille Outline 8 Dot" pitchFamily="2" charset="0"/>
                        </a:rPr>
                        <a:t>Impreciso (IC ampio)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681708"/>
                  </a:ext>
                </a:extLst>
              </a:tr>
              <a:tr h="879348"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Dr </a:t>
                      </a:r>
                      <a:r>
                        <a:rPr lang="it-IT" sz="3300" baseline="0" dirty="0" err="1">
                          <a:latin typeface="Apple Braille Outline 8 Dot" pitchFamily="2" charset="0"/>
                        </a:rPr>
                        <a:t>Learner</a:t>
                      </a:r>
                      <a:r>
                        <a:rPr lang="it-IT" sz="3300" baseline="0" dirty="0">
                          <a:latin typeface="Apple Braille Outline 8 Dot" pitchFamily="2" charset="0"/>
                        </a:rPr>
                        <a:t> (</a:t>
                      </a:r>
                      <a:r>
                        <a:rPr lang="it-IT" sz="3300" baseline="0" dirty="0" err="1">
                          <a:latin typeface="Apple Braille Outline 8 Dot" pitchFamily="2" charset="0"/>
                        </a:rPr>
                        <a:t>XGBoost</a:t>
                      </a:r>
                      <a:r>
                        <a:rPr lang="it-IT" sz="3300" baseline="0" dirty="0">
                          <a:latin typeface="Apple Braille Outline 8 Dot" pitchFamily="2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latin typeface="Apple Braille Outline 8 Dot" pitchFamily="2" charset="0"/>
                        </a:rPr>
                        <a:t>+1.23%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</a:rPr>
                        <a:t>[-0.86%, +4.47%]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3300" baseline="0" dirty="0">
                          <a:solidFill>
                            <a:schemeClr val="tx1"/>
                          </a:solidFill>
                          <a:latin typeface="Apple Braille Outline 8 Dot" pitchFamily="2" charset="0"/>
                        </a:rPr>
                        <a:t>NON 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738255"/>
                  </a:ext>
                </a:extLst>
              </a:tr>
            </a:tbl>
          </a:graphicData>
        </a:graphic>
      </p:graphicFrame>
      <p:sp>
        <p:nvSpPr>
          <p:cNvPr id="3" name="Google Shape;68;p11">
            <a:extLst>
              <a:ext uri="{FF2B5EF4-FFF2-40B4-BE49-F238E27FC236}">
                <a16:creationId xmlns:a16="http://schemas.microsoft.com/office/drawing/2014/main" id="{09FBC415-3E9A-6119-29BC-86328DE671C2}"/>
              </a:ext>
            </a:extLst>
          </p:cNvPr>
          <p:cNvSpPr txBox="1"/>
          <p:nvPr/>
        </p:nvSpPr>
        <p:spPr>
          <a:xfrm>
            <a:off x="5742000" y="840947"/>
            <a:ext cx="680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RISULTATI</a:t>
            </a:r>
          </a:p>
        </p:txBody>
      </p:sp>
    </p:spTree>
    <p:extLst>
      <p:ext uri="{BB962C8B-B14F-4D97-AF65-F5344CB8AC3E}">
        <p14:creationId xmlns:p14="http://schemas.microsoft.com/office/powerpoint/2010/main" val="4167110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1F3DA83-42EF-7A4A-0221-07795B7B1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2" y="1373958"/>
            <a:ext cx="17362656" cy="716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2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076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1028700" y="424225"/>
            <a:ext cx="1652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521524" y="424225"/>
            <a:ext cx="324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6018950" y="424225"/>
            <a:ext cx="124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1514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28700" y="2569909"/>
            <a:ext cx="6886426" cy="1354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8799" dirty="0" err="1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Conclusione</a:t>
            </a:r>
            <a:r>
              <a:rPr lang="en-US" sz="8799" dirty="0">
                <a:solidFill>
                  <a:srgbClr val="00151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8800" dirty="0"/>
          </a:p>
        </p:txBody>
      </p:sp>
      <p:sp>
        <p:nvSpPr>
          <p:cNvPr id="4" name="Google Shape;137;p16">
            <a:extLst>
              <a:ext uri="{FF2B5EF4-FFF2-40B4-BE49-F238E27FC236}">
                <a16:creationId xmlns:a16="http://schemas.microsoft.com/office/drawing/2014/main" id="{AAB26C26-84DB-A846-28DB-247DB1C951C6}"/>
              </a:ext>
            </a:extLst>
          </p:cNvPr>
          <p:cNvSpPr txBox="1"/>
          <p:nvPr/>
        </p:nvSpPr>
        <p:spPr>
          <a:xfrm>
            <a:off x="9765360" y="5783580"/>
            <a:ext cx="8284896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5400" dirty="0">
                <a:solidFill>
                  <a:srgbClr val="001514"/>
                </a:solidFill>
                <a:latin typeface="Inter"/>
                <a:ea typeface="Inter"/>
                <a:sym typeface="Inter"/>
              </a:rPr>
              <a:t>Non </a:t>
            </a:r>
            <a:r>
              <a:rPr lang="en-US" sz="5400" dirty="0" err="1">
                <a:solidFill>
                  <a:srgbClr val="001514"/>
                </a:solidFill>
                <a:latin typeface="Inter"/>
                <a:ea typeface="Inter"/>
                <a:sym typeface="Inter"/>
              </a:rPr>
              <a:t>abbiamo</a:t>
            </a:r>
            <a:r>
              <a:rPr lang="en-US" sz="5400" dirty="0">
                <a:solidFill>
                  <a:srgbClr val="001514"/>
                </a:solidFill>
                <a:latin typeface="Inter"/>
                <a:ea typeface="Inter"/>
                <a:sym typeface="Inter"/>
              </a:rPr>
              <a:t> prove significative </a:t>
            </a:r>
            <a:r>
              <a:rPr lang="en-US" sz="5400" dirty="0" err="1">
                <a:solidFill>
                  <a:srgbClr val="001514"/>
                </a:solidFill>
                <a:latin typeface="Inter"/>
                <a:ea typeface="Inter"/>
                <a:sym typeface="Inter"/>
              </a:rPr>
              <a:t>sul</a:t>
            </a:r>
            <a:r>
              <a:rPr lang="en-US" sz="5400" dirty="0">
                <a:solidFill>
                  <a:srgbClr val="001514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400" dirty="0" err="1">
                <a:solidFill>
                  <a:srgbClr val="001514"/>
                </a:solidFill>
                <a:latin typeface="Inter"/>
                <a:ea typeface="Inter"/>
                <a:sym typeface="Inter"/>
              </a:rPr>
              <a:t>trattamento</a:t>
            </a:r>
            <a:r>
              <a:rPr lang="en-US" sz="5400" dirty="0">
                <a:solidFill>
                  <a:srgbClr val="001514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5400" dirty="0" err="1">
                <a:solidFill>
                  <a:srgbClr val="001514"/>
                </a:solidFill>
                <a:latin typeface="Inter"/>
                <a:ea typeface="Inter"/>
                <a:sym typeface="Inter"/>
              </a:rPr>
              <a:t>studiato</a:t>
            </a:r>
            <a:endParaRPr lang="en-US" sz="54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8;p11">
            <a:extLst>
              <a:ext uri="{FF2B5EF4-FFF2-40B4-BE49-F238E27FC236}">
                <a16:creationId xmlns:a16="http://schemas.microsoft.com/office/drawing/2014/main" id="{2A1B9EBC-8DF8-46AF-211C-5A4859B4992B}"/>
              </a:ext>
            </a:extLst>
          </p:cNvPr>
          <p:cNvSpPr txBox="1"/>
          <p:nvPr/>
        </p:nvSpPr>
        <p:spPr>
          <a:xfrm>
            <a:off x="5742000" y="731219"/>
            <a:ext cx="6804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Limiti</a:t>
            </a:r>
            <a:r>
              <a:rPr lang="en-US" sz="5600" b="1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b="1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dello</a:t>
            </a:r>
            <a:r>
              <a:rPr lang="en-US" sz="5600" b="1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studio</a:t>
            </a:r>
          </a:p>
        </p:txBody>
      </p:sp>
      <p:sp>
        <p:nvSpPr>
          <p:cNvPr id="5" name="Google Shape;68;p11">
            <a:extLst>
              <a:ext uri="{FF2B5EF4-FFF2-40B4-BE49-F238E27FC236}">
                <a16:creationId xmlns:a16="http://schemas.microsoft.com/office/drawing/2014/main" id="{B996088E-C0ED-9B2F-726A-864788F37AF6}"/>
              </a:ext>
            </a:extLst>
          </p:cNvPr>
          <p:cNvSpPr txBox="1"/>
          <p:nvPr/>
        </p:nvSpPr>
        <p:spPr>
          <a:xfrm>
            <a:off x="1526084" y="2851804"/>
            <a:ext cx="15235832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Rischio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di Confounding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Residuo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da Baseline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statico</a:t>
            </a:r>
            <a:endParaRPr lang="en-US" sz="5600" dirty="0"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Google Shape;68;p11">
            <a:extLst>
              <a:ext uri="{FF2B5EF4-FFF2-40B4-BE49-F238E27FC236}">
                <a16:creationId xmlns:a16="http://schemas.microsoft.com/office/drawing/2014/main" id="{766FED53-402E-691D-EFE4-63A000EB5832}"/>
              </a:ext>
            </a:extLst>
          </p:cNvPr>
          <p:cNvSpPr txBox="1"/>
          <p:nvPr/>
        </p:nvSpPr>
        <p:spPr>
          <a:xfrm>
            <a:off x="1526084" y="5119347"/>
            <a:ext cx="1500595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-Potenza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statistica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limitata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(dataset DEMO)</a:t>
            </a:r>
          </a:p>
        </p:txBody>
      </p:sp>
      <p:sp>
        <p:nvSpPr>
          <p:cNvPr id="6" name="Google Shape;68;p11">
            <a:extLst>
              <a:ext uri="{FF2B5EF4-FFF2-40B4-BE49-F238E27FC236}">
                <a16:creationId xmlns:a16="http://schemas.microsoft.com/office/drawing/2014/main" id="{ED5012FF-373A-3D18-2FAD-92AEA173D4AC}"/>
              </a:ext>
            </a:extLst>
          </p:cNvPr>
          <p:cNvSpPr txBox="1"/>
          <p:nvPr/>
        </p:nvSpPr>
        <p:spPr>
          <a:xfrm>
            <a:off x="1526083" y="6525115"/>
            <a:ext cx="15005957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Assunzioni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 del TTE non </a:t>
            </a:r>
            <a:r>
              <a:rPr lang="en-US" sz="5600" dirty="0" err="1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verificabili</a:t>
            </a:r>
            <a:r>
              <a:rPr lang="en-US" sz="5600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: Exchangeability</a:t>
            </a:r>
          </a:p>
        </p:txBody>
      </p:sp>
    </p:spTree>
    <p:extLst>
      <p:ext uri="{BB962C8B-B14F-4D97-AF65-F5344CB8AC3E}">
        <p14:creationId xmlns:p14="http://schemas.microsoft.com/office/powerpoint/2010/main" val="3029935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514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/>
        </p:nvSpPr>
        <p:spPr>
          <a:xfrm>
            <a:off x="1028700" y="1558170"/>
            <a:ext cx="81153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rPr>
              <a:t>Fine.</a:t>
            </a:r>
            <a:endParaRPr sz="8000" dirty="0"/>
          </a:p>
        </p:txBody>
      </p:sp>
      <p:sp>
        <p:nvSpPr>
          <p:cNvPr id="234" name="Google Shape;234;p24"/>
          <p:cNvSpPr txBox="1"/>
          <p:nvPr/>
        </p:nvSpPr>
        <p:spPr>
          <a:xfrm>
            <a:off x="2071017" y="3738423"/>
            <a:ext cx="776576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rgbClr val="FFFFFF"/>
                </a:solidFill>
                <a:latin typeface="Inter Light"/>
                <a:ea typeface="Inter Light"/>
                <a:sym typeface="Inter Light"/>
              </a:rPr>
              <a:t>x.xu@studenti.unisa.it</a:t>
            </a:r>
            <a:endParaRPr sz="4000" dirty="0"/>
          </a:p>
        </p:txBody>
      </p:sp>
      <p:sp>
        <p:nvSpPr>
          <p:cNvPr id="235" name="Google Shape;235;p24"/>
          <p:cNvSpPr txBox="1"/>
          <p:nvPr/>
        </p:nvSpPr>
        <p:spPr>
          <a:xfrm>
            <a:off x="2071017" y="5074696"/>
            <a:ext cx="10547604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https://</a:t>
            </a:r>
            <a:r>
              <a:rPr lang="en-US" sz="4000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github.com</a:t>
            </a:r>
            <a:r>
              <a:rPr lang="en-US" sz="40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/XXY126/Causal-Inference-on-</a:t>
            </a:r>
            <a:r>
              <a:rPr lang="en-US" sz="4000" dirty="0" err="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eICU</a:t>
            </a:r>
            <a:r>
              <a:rPr lang="en-US" sz="4000" dirty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-collaborative-research-database</a:t>
            </a:r>
            <a:endParaRPr sz="4000"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1028700" y="424224"/>
            <a:ext cx="1735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SlidesCarnival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7671099" y="424225"/>
            <a:ext cx="294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Dark Minimalist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5844025" y="424225"/>
            <a:ext cx="141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08/12/2024</a:t>
            </a:r>
            <a:endParaRPr/>
          </a:p>
        </p:txBody>
      </p:sp>
      <p:sp>
        <p:nvSpPr>
          <p:cNvPr id="2" name="Google Shape;301;p25">
            <a:extLst>
              <a:ext uri="{FF2B5EF4-FFF2-40B4-BE49-F238E27FC236}">
                <a16:creationId xmlns:a16="http://schemas.microsoft.com/office/drawing/2014/main" id="{D94C2464-25E1-241A-6D70-B7952D6861C6}"/>
              </a:ext>
            </a:extLst>
          </p:cNvPr>
          <p:cNvSpPr/>
          <p:nvPr/>
        </p:nvSpPr>
        <p:spPr>
          <a:xfrm>
            <a:off x="994308" y="3874046"/>
            <a:ext cx="813542" cy="467417"/>
          </a:xfrm>
          <a:custGeom>
            <a:avLst/>
            <a:gdLst/>
            <a:ahLst/>
            <a:cxnLst/>
            <a:rect l="l" t="t" r="r" b="b"/>
            <a:pathLst>
              <a:path w="1084722" h="623222" extrusionOk="0">
                <a:moveTo>
                  <a:pt x="0" y="0"/>
                </a:moveTo>
                <a:lnTo>
                  <a:pt x="1084722" y="0"/>
                </a:lnTo>
                <a:lnTo>
                  <a:pt x="1084722" y="623222"/>
                </a:lnTo>
                <a:lnTo>
                  <a:pt x="0" y="623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414099F-4465-DAE9-876A-B385F5058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09" y="5141472"/>
            <a:ext cx="813542" cy="81354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7465</TotalTime>
  <Words>1002</Words>
  <Application>Microsoft Macintosh PowerPoint</Application>
  <PresentationFormat>Personalizzato</PresentationFormat>
  <Paragraphs>237</Paragraphs>
  <Slides>34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2" baseType="lpstr">
      <vt:lpstr>Inter Light</vt:lpstr>
      <vt:lpstr>Arial</vt:lpstr>
      <vt:lpstr>Apple Braille Outline 8 Dot</vt:lpstr>
      <vt:lpstr>Calibri</vt:lpstr>
      <vt:lpstr>Apple Braille</vt:lpstr>
      <vt:lpstr>Inter Medium</vt:lpstr>
      <vt:lpstr>Inter</vt:lpstr>
      <vt:lpstr>Dark Minimalist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XIN YU XU</cp:lastModifiedBy>
  <cp:revision>10</cp:revision>
  <dcterms:modified xsi:type="dcterms:W3CDTF">2026-04-14T00:08:02Z</dcterms:modified>
</cp:coreProperties>
</file>